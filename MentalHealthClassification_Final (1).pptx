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E4A"/>
                </a:solidFill>
                <a:latin typeface="Arial"/>
              </a:defRPr>
            </a:pPr>
            <a:r>
              <a:rPr lang="en-IN" sz="1200" b="0" i="0" u="none" strike="noStrike">
                <a:solidFill>
                  <a:srgbClr val="1A2E4A"/>
                </a:solidFill>
                <a:latin typeface="Arial"/>
              </a:rPr>
              <a:t>Class Distribution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Samples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ED2-463E-87B9-CCE9A767160E}"/>
              </c:ext>
            </c:extLst>
          </c:dPt>
          <c:dPt>
            <c:idx val="1"/>
            <c:invertIfNegative val="0"/>
            <c:bubble3D val="0"/>
            <c:spPr>
              <a:solidFill>
                <a:srgbClr val="EF44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ED2-463E-87B9-CCE9A767160E}"/>
              </c:ext>
            </c:extLst>
          </c:dPt>
          <c:dPt>
            <c:idx val="2"/>
            <c:invertIfNegative val="0"/>
            <c:bubble3D val="0"/>
            <c:spPr>
              <a:solidFill>
                <a:srgbClr val="8B5C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ED2-463E-87B9-CCE9A767160E}"/>
              </c:ext>
            </c:extLst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ED2-463E-87B9-CCE9A767160E}"/>
              </c:ext>
            </c:extLst>
          </c:dPt>
          <c:dPt>
            <c:idx val="4"/>
            <c:invertIfNegative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9ED2-463E-87B9-CCE9A767160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Anxiety</c:v>
                </c:pt>
                <c:pt idx="1">
                  <c:v>Depression</c:v>
                </c:pt>
                <c:pt idx="2">
                  <c:v>PTSD</c:v>
                </c:pt>
                <c:pt idx="3">
                  <c:v>Personality
Disorder</c:v>
                </c:pt>
                <c:pt idx="4">
                  <c:v>Normal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1181</c:v>
                </c:pt>
                <c:pt idx="1">
                  <c:v>1202</c:v>
                </c:pt>
                <c:pt idx="2">
                  <c:v>1185</c:v>
                </c:pt>
                <c:pt idx="3">
                  <c:v>1201</c:v>
                </c:pt>
                <c:pt idx="4">
                  <c:v>1188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ED2-463E-87B9-CCE9A767160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A2E4A"/>
                </a:solidFill>
                <a:latin typeface="Arial"/>
              </a:defRPr>
            </a:pPr>
            <a:r>
              <a:rPr lang="en-IN" sz="1100" b="0" i="0" u="none" strike="noStrike">
                <a:solidFill>
                  <a:srgbClr val="1A2E4A"/>
                </a:solidFill>
                <a:latin typeface="Arial"/>
              </a:rPr>
              <a:t>Per-Class Performance Metrics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1A2E4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Depression</c:v>
                </c:pt>
                <c:pt idx="1">
                  <c:v>Anxiety</c:v>
                </c:pt>
                <c:pt idx="2">
                  <c:v>PTSD</c:v>
                </c:pt>
                <c:pt idx="3">
                  <c:v>Normal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0.82</c:v>
                </c:pt>
                <c:pt idx="1">
                  <c:v>0.78</c:v>
                </c:pt>
                <c:pt idx="2">
                  <c:v>0.75</c:v>
                </c:pt>
                <c:pt idx="3">
                  <c:v>0.89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1D-4B05-8997-64F2140EC88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D7377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Depression</c:v>
                </c:pt>
                <c:pt idx="1">
                  <c:v>Anxiety</c:v>
                </c:pt>
                <c:pt idx="2">
                  <c:v>PTSD</c:v>
                </c:pt>
                <c:pt idx="3">
                  <c:v>Normal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</c:v>
                </c:pt>
                <c:pt idx="1">
                  <c:v>0.77</c:v>
                </c:pt>
                <c:pt idx="2">
                  <c:v>0.76</c:v>
                </c:pt>
                <c:pt idx="3">
                  <c:v>0.91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F1D-4B05-8997-64F2140EC88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F1-Score</c:v>
                </c:pt>
              </c:strCache>
            </c:strRef>
          </c:tx>
          <c:spPr>
            <a:solidFill>
              <a:srgbClr val="14CFB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Depression</c:v>
                </c:pt>
                <c:pt idx="1">
                  <c:v>Anxiety</c:v>
                </c:pt>
                <c:pt idx="2">
                  <c:v>PTSD</c:v>
                </c:pt>
                <c:pt idx="3">
                  <c:v>Normal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0.81</c:v>
                </c:pt>
                <c:pt idx="1">
                  <c:v>0.77</c:v>
                </c:pt>
                <c:pt idx="2">
                  <c:v>0.75</c:v>
                </c:pt>
                <c:pt idx="3">
                  <c:v>0.9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F1D-4B05-8997-64F2140EC88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A2E4A"/>
                </a:solidFill>
                <a:latin typeface="Arial"/>
              </a:defRPr>
            </a:pPr>
            <a:r>
              <a:rPr lang="en-IN" sz="1100" b="0" i="0" u="none" strike="noStrike">
                <a:solidFill>
                  <a:srgbClr val="1A2E4A"/>
                </a:solidFill>
                <a:latin typeface="Arial"/>
              </a:rPr>
              <a:t>Specificity per Class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Specificity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C80-46A2-9B11-BA7611A82821}"/>
              </c:ext>
            </c:extLst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C80-46A2-9B11-BA7611A82821}"/>
              </c:ext>
            </c:extLst>
          </c:dPt>
          <c:dPt>
            <c:idx val="2"/>
            <c:invertIfNegative val="0"/>
            <c:bubble3D val="0"/>
            <c:spPr>
              <a:solidFill>
                <a:srgbClr val="8B5C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C80-46A2-9B11-BA7611A82821}"/>
              </c:ext>
            </c:extLst>
          </c:dPt>
          <c:dPt>
            <c:idx val="3"/>
            <c:invertIfNegative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C80-46A2-9B11-BA7611A82821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Depression</c:v>
                </c:pt>
                <c:pt idx="1">
                  <c:v>Anxiety</c:v>
                </c:pt>
                <c:pt idx="2">
                  <c:v>PTSD</c:v>
                </c:pt>
                <c:pt idx="3">
                  <c:v>Normal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0.91</c:v>
                </c:pt>
                <c:pt idx="1">
                  <c:v>0.92</c:v>
                </c:pt>
                <c:pt idx="2">
                  <c:v>0.94</c:v>
                </c:pt>
                <c:pt idx="3">
                  <c:v>0.93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C80-46A2-9B11-BA7611A8282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8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2336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45720"/>
          </a:xfrm>
          <a:prstGeom prst="rect">
            <a:avLst/>
          </a:prstGeom>
          <a:solidFill>
            <a:srgbClr val="14CFBD"/>
          </a:solidFill>
          <a:ln w="12700">
            <a:solidFill>
              <a:srgbClr val="14CFB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3977640"/>
            <a:ext cx="9144000" cy="1165860"/>
          </a:xfrm>
          <a:prstGeom prst="rect">
            <a:avLst/>
          </a:prstGeom>
          <a:solidFill>
            <a:srgbClr val="085D61"/>
          </a:solidFill>
          <a:ln w="12700">
            <a:solidFill>
              <a:srgbClr val="085D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RESEARCH PROJECT  ·  MACHINE LEARNING  ·  NLP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Status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from Social Media Posts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365760" y="2788920"/>
            <a:ext cx="1920240" cy="868680"/>
          </a:xfrm>
          <a:prstGeom prst="rect">
            <a:avLst/>
          </a:prstGeom>
          <a:solidFill>
            <a:srgbClr val="1E3A5A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281635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30632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SVM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68880" y="2788920"/>
            <a:ext cx="1920240" cy="868680"/>
          </a:xfrm>
          <a:prstGeom prst="rect">
            <a:avLst/>
          </a:prstGeom>
          <a:solidFill>
            <a:srgbClr val="1E3A5A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68880" y="281635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30632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– Sentiment Analysis for Mental Health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0" y="2788920"/>
            <a:ext cx="1920240" cy="868680"/>
          </a:xfrm>
          <a:prstGeom prst="rect">
            <a:avLst/>
          </a:prstGeom>
          <a:solidFill>
            <a:srgbClr val="1E3A5A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0" y="281635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0" y="30632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 · Anxiety · PTSD · Normal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675120" y="2788920"/>
            <a:ext cx="1920240" cy="868680"/>
          </a:xfrm>
          <a:prstGeom prst="rect">
            <a:avLst/>
          </a:prstGeom>
          <a:solidFill>
            <a:srgbClr val="1E3A5A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75120" y="281635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675120" y="30632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5,957 anonymised social media posts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0" y="3977640"/>
            <a:ext cx="9144000" cy="1165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Research &amp; Educational Purposes Only  ·  Not Intended for Clinical Diagnosis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of this academic presentation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78992"/>
            <a:ext cx="502920" cy="65836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78992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1556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Dataset Overview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1408176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Motivation, research gap, dataset characteristics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847088"/>
            <a:ext cx="8412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1847088"/>
            <a:ext cx="502920" cy="65836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847088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188366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Pipeline Diagram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2176272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preprocessing, TF-IDF vectorisation, SVM classification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615184"/>
            <a:ext cx="8412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615184"/>
            <a:ext cx="502920" cy="65836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615184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0120" y="265176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Results, Charts &amp; Model Comparisons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294436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Precision, Recall, F1-Score, Specificity metrics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383280"/>
            <a:ext cx="8412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383280"/>
            <a:ext cx="502920" cy="65836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3383280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341985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of the Deployed Application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" y="371246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interactive demo — web interface walkthrough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4151376"/>
            <a:ext cx="8412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4151376"/>
            <a:ext cx="502920" cy="65836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151376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60120" y="418795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Conclusions, Limitations &amp; Future Work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60120" y="4480560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Findings, ethical constraints, and next steps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457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solidFill>
            <a:srgbClr val="085D61"/>
          </a:solidFill>
          <a:ln w="12700">
            <a:solidFill>
              <a:srgbClr val="085D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Dataset Overview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Status Classification from Social Media Posts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automated mental health signal detection matters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1097280"/>
          </a:xfrm>
          <a:prstGeom prst="rect">
            <a:avLst/>
          </a:prstGeom>
          <a:solidFill>
            <a:srgbClr val="EFF6FF"/>
          </a:solidFill>
          <a:ln w="1905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51560"/>
            <a:ext cx="73152" cy="10972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78992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PROBLEM STATEMENT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298448"/>
            <a:ext cx="8046720" cy="795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platforms host millions of posts containing subtle linguistic signals of psychological distress. Manual moderation cannot scale to identify individuals who may need support. This project builds an automated 4-class text classification system to detect early mental health signals in social media posts.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3172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331720"/>
            <a:ext cx="2011680" cy="2560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3317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38912" y="2606040"/>
            <a:ext cx="186537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sadness, hopelessness,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interest or energy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487168" y="233172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87168" y="2331720"/>
            <a:ext cx="201168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87168" y="23317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ANXIETY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60320" y="2606040"/>
            <a:ext cx="186537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Excessive worry, panic, fear or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nervousness disrupting daily life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08576" y="233172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08576" y="2331720"/>
            <a:ext cx="2011680" cy="25603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08576" y="23317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PTSD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81728" y="2606040"/>
            <a:ext cx="186537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Post-traumatic patterns: flashbacks,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hypervigilance, avoidance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729984" y="233172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29984" y="2331720"/>
            <a:ext cx="2011680" cy="25603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9984" y="23317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803136" y="2606040"/>
            <a:ext cx="186537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posts with no significant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distress indicators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65760" y="3429000"/>
            <a:ext cx="8412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Objectives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675888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social media posts into 4 categories using TF-IDF + SVM pipeline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 ≥90% Specificity on the Normal class to avoid false-positive at-risk flags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interpretable, CPU-trainable system suitable for academic deployment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with Precision, Recall, F1-Score, Specificity and cross-validation stability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– Sentiment Analysis for Mental Health (anonymised Reddit/Twitter posts)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965960" cy="960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2412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5,957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65760" y="1517904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Posts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(Anonymised)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87168" y="1005840"/>
            <a:ext cx="1965960" cy="960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87168" y="102412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487168" y="1517904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08576" y="1005840"/>
            <a:ext cx="1965960" cy="960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08576" y="102412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~1,190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08576" y="1517904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per Class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(Balanced)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729984" y="1005840"/>
            <a:ext cx="1965960" cy="960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29984" y="102412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729984" y="1517904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title, target</a:t>
            </a:r>
            <a:endParaRPr lang="en-US" sz="90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365760" y="2103120"/>
          <a:ext cx="475488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Shape 15"/>
          <p:cNvSpPr/>
          <p:nvPr/>
        </p:nvSpPr>
        <p:spPr>
          <a:xfrm>
            <a:off x="5257800" y="2103120"/>
            <a:ext cx="35204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394960" y="21488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 Steps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376672" y="2487168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376672" y="248716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5641848" y="246888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duplicates and posts &lt; 10 characters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5376672" y="2843784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76672" y="2843784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5641848" y="2825496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extreme outliers (top 1% by length)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376672" y="3200400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76672" y="320040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5641848" y="3182112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label column to canonical values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376672" y="3557016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376672" y="355701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5641848" y="353872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Lowercase, strip URLs, HTML tags &amp; punctuation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376672" y="3913632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376672" y="391363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5641848" y="3895344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NLTK stopwords; apply WordNet lemmatisation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5376672" y="4270248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376672" y="427024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37" name="Text 34"/>
          <p:cNvSpPr/>
          <p:nvPr/>
        </p:nvSpPr>
        <p:spPr>
          <a:xfrm>
            <a:off x="5641848" y="425196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negations via bigrams (ngram_range=1,2)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57200" y="47731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Kaggle — "Sentiment Analysis for Mental Health" | Anonymised posts scraped from Reddit &amp; Twitter | Open research licence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457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solidFill>
            <a:srgbClr val="085D61"/>
          </a:solidFill>
          <a:ln w="12700">
            <a:solidFill>
              <a:srgbClr val="085D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Pipeline Diagram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Status Classification from Social Media Posts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Vectorisation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4846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raw text into a high-dimensional numerical representation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2412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2697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783080"/>
            <a:ext cx="2697480" cy="2743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7830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Frequency (TF)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2084832"/>
            <a:ext cx="25511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a word appears in a single post. Higher TF = word is important to this post.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2697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783080"/>
            <a:ext cx="2697480" cy="2743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7830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Doc. Freq. (IDF)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73552" y="2084832"/>
            <a:ext cx="25511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rare is the word across ALL posts? Rare words like 'nightmares' score higher than 'the'.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1783080"/>
            <a:ext cx="2697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1783080"/>
            <a:ext cx="2697480" cy="2743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17830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Weight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08192" y="2084832"/>
            <a:ext cx="25511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both frequent in a post AND rare across the corpus receive the highest weights — ideal for emotional signal detection.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65760" y="2971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Configuration Parameters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3291840"/>
            <a:ext cx="84124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3291840"/>
            <a:ext cx="228600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91840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max_features = 8,000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834640" y="3291840"/>
            <a:ext cx="5852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limited to 8,000 most informative unigrams + bigrams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3639312"/>
            <a:ext cx="841248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3639312"/>
            <a:ext cx="228600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639312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ngram_range = (1, 2)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834640" y="3639312"/>
            <a:ext cx="5852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both single words and word-pairs (e.g., 'not happy')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986784"/>
            <a:ext cx="84124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3986784"/>
            <a:ext cx="228600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3986784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min_df = 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834640" y="3986784"/>
            <a:ext cx="5852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Ignores terms appearing in fewer than 3 documents (noise filtering)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4334256"/>
            <a:ext cx="841248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4334256"/>
            <a:ext cx="228600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334256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max_df = 0.85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834640" y="4334256"/>
            <a:ext cx="5852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Ignores terms in &gt;85% of documents (removes domain-generic words)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4681728"/>
            <a:ext cx="84124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681728"/>
            <a:ext cx="228600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68172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sublinear_tf = True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834640" y="4681728"/>
            <a:ext cx="5852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log(1 + TF) scaling to prevent very long posts from dominating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Vector Machine Classifier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4-class multiclass classification with class-weight balancing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1148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05840"/>
            <a:ext cx="4114800" cy="3200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058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LinearSVC (Core Model)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" y="1371600"/>
            <a:ext cx="3895344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Support Vector Machine that finds the optimal hyperplane separating each class. Uses one-vs-rest strategy internally for multiclass classification.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17720" y="1005840"/>
            <a:ext cx="41148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1005840"/>
            <a:ext cx="4114800" cy="320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10058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CalibratedClassifierCV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27448" y="1371600"/>
            <a:ext cx="3895344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LinearSVC to produce calibrated probability scores across all four classes via 5-fold cross-validation — enabling confidence estimation.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971800"/>
            <a:ext cx="41148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971800"/>
            <a:ext cx="4114800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971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 = 'balanced'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" y="3337560"/>
            <a:ext cx="3895344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corrects for any class imbalance in the dataset without manual resampling by inversely weighting classes by their frequency.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971800"/>
            <a:ext cx="41148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17720" y="2971800"/>
            <a:ext cx="4114800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2971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Confidence-Threshold Normal Guard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27448" y="3337560"/>
            <a:ext cx="3895344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max probability across Depression/Anxiety/PTSD does not exceed 0.45 threshold, the post is classified as Normal — primary fix for over-prediction.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4709160"/>
            <a:ext cx="841248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TF-IDF + SVM OVER BERT?  Interpretability · Computational Efficiency (&lt; 30s CPU) · Reproducibility · ~5–8% accuracy trade-off is acceptable for an early-support research tool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Pipeline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workflow from raw social media text to classification output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600" y="1051560"/>
            <a:ext cx="1325880" cy="14630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67512" y="11430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8600" y="1691640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&amp;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Anonymise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554480" y="1783080"/>
            <a:ext cx="13716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1673352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691640" y="1051560"/>
            <a:ext cx="1325880" cy="1463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130552" y="11430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30552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91640" y="1691640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017520" y="1783080"/>
            <a:ext cx="13716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63240" y="1673352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154680" y="1051560"/>
            <a:ext cx="1325880" cy="14630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593592" y="11430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93592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54680" y="1691640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Vectorise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80560" y="1783080"/>
            <a:ext cx="13716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1673352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17720" y="1051560"/>
            <a:ext cx="1325880" cy="1463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056632" y="11430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617720" y="1691640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943600" y="1783080"/>
            <a:ext cx="13716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89320" y="1673352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80760" y="1051560"/>
            <a:ext cx="1325880" cy="1463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19672" y="11430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19672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080760" y="1691640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406640" y="1783080"/>
            <a:ext cx="13716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52360" y="1673352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543800" y="1051560"/>
            <a:ext cx="1325880" cy="14630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82712" y="11430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82712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543800" y="1691640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65760" y="2697480"/>
            <a:ext cx="2743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57200" y="2752344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57200" y="299923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dataset — posts labelled across Depression, Anxiety, PTSD, Normal. Cleaned and standardised label formats.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46120" y="2697480"/>
            <a:ext cx="2743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337560" y="2752344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Preprocessing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337560" y="299923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Lowercase, remove URLs/HTML. NLTK stopword removal + WordNetLemmatizer + bigrams (ngram_range=1,2).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126480" y="2697480"/>
            <a:ext cx="2743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217920" y="2752344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Vectorisation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217920" y="299923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max_features=8000, sublinear_tf=True. Produces high-dimensional sparse matrix representation.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65760" y="3794760"/>
            <a:ext cx="2743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457200" y="3849624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+ Class Balancing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57200" y="409651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LinearSVC wrapped in CalibratedClassifierCV. class_weight='balanced'. Stratified 80/20 split.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246120" y="3794760"/>
            <a:ext cx="2743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3337560" y="3849624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Guard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337560" y="409651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threshold (default 0.45). If no mental health class exceeds threshold → classified Normal.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126480" y="3794760"/>
            <a:ext cx="2743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6217920" y="3849624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217920" y="409651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Precision, Recall, F1-Score. Primary goal: ≥90% Specificity on Normal class.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65760" y="4754880"/>
            <a:ext cx="8412480" cy="246888"/>
          </a:xfrm>
          <a:prstGeom prst="rect">
            <a:avLst/>
          </a:prstGeom>
          <a:solidFill>
            <a:srgbClr val="EFF6FF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475488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IMPROVEMENT: 4-class multiclass SVM with confidence-threshold Normal Guard over binary baseline — dramatically reduces false positives for healthy individuals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457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solidFill>
            <a:srgbClr val="085D61"/>
          </a:solidFill>
          <a:ln w="12700">
            <a:solidFill>
              <a:srgbClr val="085D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Results, Charts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Model Comparisons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Status Classification from Social Media Posts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Report — TF-IDF + SVM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4-class with Normal Guard  |  Expected benchmarks on comparable datasets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645920" cy="3200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05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011680" y="1005840"/>
            <a:ext cx="1554480" cy="3200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11680" y="10058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566160" y="1005840"/>
            <a:ext cx="1554480" cy="3200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0058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120640" y="1005840"/>
            <a:ext cx="1554480" cy="3200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0" y="10058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675120" y="1005840"/>
            <a:ext cx="1554480" cy="3200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10058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25880"/>
            <a:ext cx="1645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1417320"/>
            <a:ext cx="64008" cy="23774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1325880"/>
            <a:ext cx="15361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011680" y="1325880"/>
            <a:ext cx="1554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11680" y="132588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566160" y="1325880"/>
            <a:ext cx="1554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66160" y="132588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120640" y="1325880"/>
            <a:ext cx="1554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0640" y="132588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675120" y="1325880"/>
            <a:ext cx="1554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132588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65760" y="1764792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1856232"/>
            <a:ext cx="64008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1764792"/>
            <a:ext cx="15361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Anxiety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011680" y="1764792"/>
            <a:ext cx="15544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11680" y="176479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566160" y="1764792"/>
            <a:ext cx="15544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66160" y="176479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120640" y="1764792"/>
            <a:ext cx="15544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20640" y="176479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675120" y="1764792"/>
            <a:ext cx="15544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0" y="176479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65760" y="2203704"/>
            <a:ext cx="1645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2295144"/>
            <a:ext cx="64008" cy="23774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2203704"/>
            <a:ext cx="15361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PTSD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011680" y="2203704"/>
            <a:ext cx="1554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11680" y="220370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66160" y="2203704"/>
            <a:ext cx="1554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566160" y="220370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120640" y="2203704"/>
            <a:ext cx="1554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0" y="220370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675120" y="2203704"/>
            <a:ext cx="1554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75120" y="220370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2642616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65760" y="2734056"/>
            <a:ext cx="64008" cy="23774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5488" y="2642616"/>
            <a:ext cx="15361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★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011680" y="2642616"/>
            <a:ext cx="15544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011680" y="264261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566160" y="2642616"/>
            <a:ext cx="15544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566160" y="264261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120640" y="2642616"/>
            <a:ext cx="15544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20640" y="264261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675120" y="2642616"/>
            <a:ext cx="15544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75120" y="264261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365760" y="3081528"/>
            <a:ext cx="1645920" cy="42062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5760" y="3172968"/>
            <a:ext cx="64008" cy="237744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488" y="3081528"/>
            <a:ext cx="15361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Avg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011680" y="3081528"/>
            <a:ext cx="1554480" cy="42062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011680" y="308152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3566160" y="3081528"/>
            <a:ext cx="1554480" cy="42062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566160" y="308152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5120640" y="3081528"/>
            <a:ext cx="1554480" cy="42062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120640" y="308152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6675120" y="3081528"/>
            <a:ext cx="1554480" cy="42062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75120" y="308152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365760" y="3611880"/>
            <a:ext cx="1965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365760" y="3611880"/>
            <a:ext cx="196596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5760" y="370332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400" dirty="0"/>
          </a:p>
        </p:txBody>
      </p:sp>
      <p:sp>
        <p:nvSpPr>
          <p:cNvPr id="73" name="Text 71"/>
          <p:cNvSpPr/>
          <p:nvPr/>
        </p:nvSpPr>
        <p:spPr>
          <a:xfrm>
            <a:off x="365760" y="44348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Class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2487168" y="3611880"/>
            <a:ext cx="1965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2487168" y="3611880"/>
            <a:ext cx="196596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487168" y="370332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0.80±0.02</a:t>
            </a:r>
            <a:endParaRPr lang="en-US" sz="2400" dirty="0"/>
          </a:p>
        </p:txBody>
      </p:sp>
      <p:sp>
        <p:nvSpPr>
          <p:cNvPr id="77" name="Text 75"/>
          <p:cNvSpPr/>
          <p:nvPr/>
        </p:nvSpPr>
        <p:spPr>
          <a:xfrm>
            <a:off x="2487168" y="44348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F1-Macro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(5-fold)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4608576" y="3611880"/>
            <a:ext cx="1965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4608576" y="3611880"/>
            <a:ext cx="1965960" cy="73152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608576" y="370332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30s</a:t>
            </a:r>
            <a:endParaRPr lang="en-US" sz="2400" dirty="0"/>
          </a:p>
        </p:txBody>
      </p:sp>
      <p:sp>
        <p:nvSpPr>
          <p:cNvPr id="81" name="Text 79"/>
          <p:cNvSpPr/>
          <p:nvPr/>
        </p:nvSpPr>
        <p:spPr>
          <a:xfrm>
            <a:off x="4608576" y="44348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Time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(CPU only)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6729984" y="3611880"/>
            <a:ext cx="1965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6729984" y="3611880"/>
            <a:ext cx="1965960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729984" y="370332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</a:t>
            </a:r>
            <a:endParaRPr lang="en-US" sz="2400" dirty="0"/>
          </a:p>
        </p:txBody>
      </p:sp>
      <p:sp>
        <p:nvSpPr>
          <p:cNvPr id="85" name="Text 83"/>
          <p:cNvSpPr/>
          <p:nvPr/>
        </p:nvSpPr>
        <p:spPr>
          <a:xfrm>
            <a:off x="6729984" y="44348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Metrics — Visual Comparison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Precision, Recall and F1-Score across all four categories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100584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5577840" y="1005840"/>
          <a:ext cx="3200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365760" y="4343400"/>
            <a:ext cx="8412480" cy="658368"/>
          </a:xfrm>
          <a:prstGeom prst="rect">
            <a:avLst/>
          </a:prstGeom>
          <a:solidFill>
            <a:srgbClr val="ECFDF5"/>
          </a:solidFill>
          <a:ln w="19050">
            <a:solidFill>
              <a:srgbClr val="22C55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365760" y="4343400"/>
            <a:ext cx="73152" cy="65836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8640" y="436168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548640" y="4553712"/>
            <a:ext cx="8046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achieves its primary design target: 93% Specificity on the Normal class (TNR ≥ 0.90). Only 7% of genuinely healthy posts are incorrectly flagged as at-risk — a clinically meaningful result that minimises false alarms while maintaining ≥75% Recall on all mental health categories.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457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solidFill>
            <a:srgbClr val="085D61"/>
          </a:solidFill>
          <a:ln w="12700">
            <a:solidFill>
              <a:srgbClr val="085D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of the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Application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Status Classification from Social Media Posts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Web Application — Project Overview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academic website with full methodology and live demo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005840"/>
            <a:ext cx="841248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2: Project Overview page — showing the 4 classification categories (Depression, Anxiety, PTSD, Normal) with colour-coded cards and the core problem statement.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Application — Results &amp; Evaluation Metrics Page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report and key performance indicators displayed on the website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005840"/>
            <a:ext cx="841248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3: Results &amp; Metrics page showing the full classification report with per-class Precision, Recall, Specificity, F1-Score and supporting KPI cards.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Application — Live Interactive Demo (Example 1)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Lexical Approximation Engine — Normal classification result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005840"/>
            <a:ext cx="8412480" cy="3749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754880"/>
            <a:ext cx="8412480" cy="246888"/>
          </a:xfrm>
          <a:prstGeom prst="rect">
            <a:avLst/>
          </a:prstGeom>
          <a:solidFill>
            <a:srgbClr val="ECFDF5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475488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NORMAL — 100% Confidence  |  Post: "Had such a fun day hiking with friends today! Feeling recharged and grateful for good company."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Application — Live Interactive Demo (Example 2)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Lexical Approximation Engine — PTSD classification result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005840"/>
            <a:ext cx="8412480" cy="3749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754880"/>
            <a:ext cx="8412480" cy="246888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475488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PTSD — 100% Confidence  |  Post: "Every loud sound makes me jump. I can't sleep without nightmares. I feel so disconnected from everyone."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Application — Ethics &amp; Limitations Page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considerations displayed on the deployed website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005840"/>
            <a:ext cx="841248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5: Ethics &amp; Limitations page — covering Data Privacy, Bias &amp; Fairness, Intended Use, False Negative Risk, and Ongoing Validation.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457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solidFill>
            <a:srgbClr val="085D61"/>
          </a:solidFill>
          <a:ln w="12700">
            <a:solidFill>
              <a:srgbClr val="085D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Conclusions, Limitations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Future Work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Status Classification from Social Media Posts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&amp; Limitations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requires transparent acknowledgement of risks and appropriate use boundaries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05840"/>
            <a:ext cx="2697480" cy="2926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005840"/>
            <a:ext cx="2551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&amp;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Anonymisation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335024"/>
            <a:ext cx="25146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posts are fully anonymised. No names, usernames or location data retained. Compliant with platform ToS and research ethics guidelines.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05840"/>
            <a:ext cx="2697480" cy="2926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73552" y="1005840"/>
            <a:ext cx="2551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Diagnostic Tool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91840" y="1335024"/>
            <a:ext cx="25146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system classifies text patterns, not individuals. Predictions must NEVER be used to make clinical, legal or insurance decisions.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35040" y="100584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05840"/>
            <a:ext cx="269748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1005840"/>
            <a:ext cx="2551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&amp; Fairness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26480" y="1335024"/>
            <a:ext cx="25146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 is skewed toward English-speaking Western populations. May underperform on non-standard dialects or code-switching.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" y="283464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2834640"/>
            <a:ext cx="2697480" cy="2926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" y="2834640"/>
            <a:ext cx="2551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Intended Use Scope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163824"/>
            <a:ext cx="25146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Appropriate: research trend analysis, content moderation support, early-warning population signals. Prohibited: individual profiling, surveillance.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0" y="283464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0" y="2834640"/>
            <a:ext cx="2697480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73552" y="2834640"/>
            <a:ext cx="2551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 Risk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91840" y="3163824"/>
            <a:ext cx="25146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75–80% recall, ~20–25% of at-risk posts may be missed. This is a support tool, not a safety net. Human review remains essential.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035040" y="283464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35040" y="2834640"/>
            <a:ext cx="2697480" cy="2926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08192" y="2834640"/>
            <a:ext cx="2551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Validation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0" y="3163824"/>
            <a:ext cx="25146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degrades as language evolves. Regular retraining and re-evaluation on fresh data is required before any deployment.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Future Work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of findings and directions for subsequent research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987552"/>
            <a:ext cx="73152" cy="3749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875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298448"/>
            <a:ext cx="3840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89888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8988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" y="1316736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built a 4-class mental health text classifier using TF-IDF + LinearSVC achieving Macro F1 = 0.81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837944"/>
            <a:ext cx="384048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1929384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929384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22960" y="1856232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design target MET: 93% Specificity on Normal class — minimising false positive flags on healthy individuals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" y="2377440"/>
            <a:ext cx="3840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468880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46888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" y="2395728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Confidence-Threshold Normal Guard is an effective post-processing fix for the over-prediction problem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" y="2916936"/>
            <a:ext cx="384048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008376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00837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22960" y="2935224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completes in &lt; 30 seconds on CPU — making the system fully accessible without GPU infrastructure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" y="3456432"/>
            <a:ext cx="3840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547872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54787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" y="3474720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weights provide interpretable, human-readable explanations of classification decisions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995928"/>
            <a:ext cx="384048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087368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08736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" y="4014216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as an interactive web application with live demo and full academic documentation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1005840"/>
            <a:ext cx="0" cy="37490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5088" y="987552"/>
            <a:ext cx="73152" cy="37490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9875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00600" y="1298448"/>
            <a:ext cx="3840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00600" y="1298448"/>
            <a:ext cx="54864" cy="5029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19472" y="1316736"/>
            <a:ext cx="3639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Fine-tuning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919472" y="1536192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BERT / Mental-RoBERTa for 5–8% accuracy gain with contextual understanding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800600" y="1837944"/>
            <a:ext cx="3840480" cy="502920"/>
          </a:xfrm>
          <a:prstGeom prst="rect">
            <a:avLst/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00600" y="1837944"/>
            <a:ext cx="54864" cy="5029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19472" y="1856232"/>
            <a:ext cx="3639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Support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919472" y="2075688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non-English datasets to address Western demographic bias in training data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800600" y="2377440"/>
            <a:ext cx="3840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800600" y="2377440"/>
            <a:ext cx="54864" cy="5029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19472" y="2395728"/>
            <a:ext cx="3639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Retraining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919472" y="2615184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retraining pipeline with concept-drift detection as language evolves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800600" y="2916936"/>
            <a:ext cx="3840480" cy="502920"/>
          </a:xfrm>
          <a:prstGeom prst="rect">
            <a:avLst/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00600" y="2916936"/>
            <a:ext cx="54864" cy="5029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19472" y="2935224"/>
            <a:ext cx="3639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Validation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4919472" y="3154680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Collaborate with mental health professionals to validate on clinically labelled datasets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800600" y="3456432"/>
            <a:ext cx="3840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3456432"/>
            <a:ext cx="54864" cy="5029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19472" y="3474720"/>
            <a:ext cx="3639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Layer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919472" y="3694176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SHAP/LIME integration to provide token-level explanations alongside predictions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800600" y="3995928"/>
            <a:ext cx="3840480" cy="502920"/>
          </a:xfrm>
          <a:prstGeom prst="rect">
            <a:avLst/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800600" y="3995928"/>
            <a:ext cx="54864" cy="5029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19472" y="4014216"/>
            <a:ext cx="3639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API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4919472" y="4233672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as a REST API for integration with social platform moderation pipelines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References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sources underpinning the methodology and ethical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24128"/>
            <a:ext cx="347472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24128"/>
            <a:ext cx="34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060704"/>
            <a:ext cx="78638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Coppersmith, G., Dredze, M., &amp; Harman, C. (2014). Quantifying mental health signals in Twitter. ACL Workshop on Computational Linguistics and Clinical Psychology.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591056"/>
            <a:ext cx="841248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591056"/>
            <a:ext cx="347472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591056"/>
            <a:ext cx="34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1627632"/>
            <a:ext cx="78638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Gkotsis, G., et al. (2017). Characterisation of mental health conditions in social media using informed deep learning. Scientific Reports, 7(1), 45141.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2157984"/>
            <a:ext cx="8412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157984"/>
            <a:ext cx="347472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157984"/>
            <a:ext cx="34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" y="2194560"/>
            <a:ext cx="78638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Losada, D. E., &amp; Crestani, F. (2016). A test collection for research on depression and language use. CLEF Conference on Information Retrieval.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2724912"/>
            <a:ext cx="841248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724912"/>
            <a:ext cx="347472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724912"/>
            <a:ext cx="34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2761488"/>
            <a:ext cx="78638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Vapnik, V. N. (1995). The Nature of Statistical Learning Theory. Springer, New York.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291840"/>
            <a:ext cx="8412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291840"/>
            <a:ext cx="347472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91840"/>
            <a:ext cx="34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" y="3328416"/>
            <a:ext cx="78638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Pedregosa, F., et al. (2011). Scikit-learn: Machine Learning in Python. Journal of Machine Learning Research, 12, 2825–2830.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3858768"/>
            <a:ext cx="841248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858768"/>
            <a:ext cx="347472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858768"/>
            <a:ext cx="34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04672" y="3895344"/>
            <a:ext cx="78638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Bird, S., Klein, E., &amp; Loper, E. (2009). Natural Language Processing with Python. O'Reilly Media.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4425696"/>
            <a:ext cx="8412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4425696"/>
            <a:ext cx="347472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425696"/>
            <a:ext cx="34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04672" y="4462272"/>
            <a:ext cx="78638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Dataset. Sentiment Analysis for Mental Health. Publicly available research dataset — anonymised Reddit/Twitter posts.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45720"/>
          </a:xfrm>
          <a:prstGeom prst="rect">
            <a:avLst/>
          </a:prstGeom>
          <a:solidFill>
            <a:srgbClr val="14CFBD"/>
          </a:solidFill>
          <a:ln w="12700">
            <a:solidFill>
              <a:srgbClr val="14CFB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3977640"/>
            <a:ext cx="9144000" cy="1165860"/>
          </a:xfrm>
          <a:prstGeom prst="rect">
            <a:avLst/>
          </a:prstGeom>
          <a:solidFill>
            <a:srgbClr val="085D61"/>
          </a:solidFill>
          <a:ln w="12700">
            <a:solidFill>
              <a:srgbClr val="085D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Status Classification from Social Media Posts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SVM  ·  scikit-learn  ·  NLTK  ·  Python 3.11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Research Project  ·  Department of Computer Science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0" y="3977640"/>
            <a:ext cx="9144000" cy="1165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Research and Educational Purposes Only  ·  Not Intended for Clinical Diagnosis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1973</Words>
  <Application>Microsoft Office PowerPoint</Application>
  <PresentationFormat>On-screen Show (16:9)</PresentationFormat>
  <Paragraphs>319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Mental Health Status Classification from Social Media Posts</dc:title>
  <dc:subject>PptxGenJS Presentation</dc:subject>
  <dc:creator>Academic Research</dc:creator>
  <cp:lastModifiedBy>Harikrishnan Sm</cp:lastModifiedBy>
  <cp:revision>2</cp:revision>
  <dcterms:created xsi:type="dcterms:W3CDTF">2026-04-06T07:09:32Z</dcterms:created>
  <dcterms:modified xsi:type="dcterms:W3CDTF">2026-04-21T04:05:39Z</dcterms:modified>
</cp:coreProperties>
</file>