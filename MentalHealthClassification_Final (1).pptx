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4A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Anxiety</c:v>
                  </c:pt>
                  <c:pt idx="1">
                    <c:v>Depression</c:v>
                  </c:pt>
                  <c:pt idx="2">
                    <c:v>PTSD</c:v>
                  </c:pt>
                  <c:pt idx="3">
                    <c:v>Personality
Disorder</c:v>
                  </c:pt>
                  <c:pt idx="4">
                    <c:v>Normal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1181</c:v>
                </c:pt>
                <c:pt idx="1">
                  <c:v>1202</c:v>
                </c:pt>
                <c:pt idx="2">
                  <c:v>1185</c:v>
                </c:pt>
                <c:pt idx="3">
                  <c:v>1201</c:v>
                </c:pt>
                <c:pt idx="4">
                  <c:v>1188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E4A"/>
                </a:solidFill>
                <a:latin typeface="Arial"/>
              </a:rPr>
              <a:t>Per-Class Performance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Depression</c:v>
                  </c:pt>
                  <c:pt idx="1">
                    <c:v>Anxiety</c:v>
                  </c:pt>
                  <c:pt idx="2">
                    <c:v>PTSD</c:v>
                  </c:pt>
                  <c:pt idx="3">
                    <c:v>Normal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0.78</c:v>
                </c:pt>
                <c:pt idx="2">
                  <c:v>0.75</c:v>
                </c:pt>
                <c:pt idx="3">
                  <c:v>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Depression</c:v>
                  </c:pt>
                  <c:pt idx="1">
                    <c:v>Anxiety</c:v>
                  </c:pt>
                  <c:pt idx="2">
                    <c:v>PTSD</c:v>
                  </c:pt>
                  <c:pt idx="3">
                    <c:v>Normal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0.77</c:v>
                </c:pt>
                <c:pt idx="2">
                  <c:v>0.76</c:v>
                </c:pt>
                <c:pt idx="3">
                  <c:v>0.91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4CF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Depression</c:v>
                  </c:pt>
                  <c:pt idx="1">
                    <c:v>Anxiety</c:v>
                  </c:pt>
                  <c:pt idx="2">
                    <c:v>PTSD</c:v>
                  </c:pt>
                  <c:pt idx="3">
                    <c:v>Normal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</c:v>
                </c:pt>
                <c:pt idx="1">
                  <c:v>0.77</c:v>
                </c:pt>
                <c:pt idx="2">
                  <c:v>0.75</c:v>
                </c:pt>
                <c:pt idx="3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E4A"/>
                </a:solidFill>
                <a:latin typeface="Arial"/>
              </a:rPr>
              <a:t>Specificity per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Depression</c:v>
                  </c:pt>
                  <c:pt idx="1">
                    <c:v>Anxiety</c:v>
                  </c:pt>
                  <c:pt idx="2">
                    <c:v>PTSD</c:v>
                  </c:pt>
                  <c:pt idx="3">
                    <c:v>Normal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0.92</c:v>
                </c:pt>
                <c:pt idx="2">
                  <c:v>0.94</c:v>
                </c:pt>
                <c:pt idx="3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45720"/>
          </a:xfrm>
          <a:prstGeom prst="rect">
            <a:avLst/>
          </a:prstGeom>
          <a:solidFill>
            <a:srgbClr val="14CFBD"/>
          </a:solidFill>
          <a:ln w="12700">
            <a:solidFill>
              <a:srgbClr val="14C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PROJECT  ·  MACHINE LEARNING  ·  NLP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from Social Media Posts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920240" cy="868680"/>
          </a:xfrm>
          <a:prstGeom prst="rect">
            <a:avLst/>
          </a:prstGeom>
          <a:solidFill>
            <a:srgbClr val="1E3A5A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2788920"/>
            <a:ext cx="1920240" cy="868680"/>
          </a:xfrm>
          <a:prstGeom prst="rect">
            <a:avLst/>
          </a:prstGeom>
          <a:solidFill>
            <a:srgbClr val="1E3A5A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Sentiment Analysis for Mental Health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1920240" cy="868680"/>
          </a:xfrm>
          <a:prstGeom prst="rect">
            <a:avLst/>
          </a:prstGeom>
          <a:solidFill>
            <a:srgbClr val="1E3A5A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· Anxiety · PTSD · Normal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2788920"/>
            <a:ext cx="1920240" cy="868680"/>
          </a:xfrm>
          <a:prstGeom prst="rect">
            <a:avLst/>
          </a:prstGeom>
          <a:solidFill>
            <a:srgbClr val="1E3A5A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5,957 anonymised social media posts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&amp; Educational Purposes Only  ·  Not Intended for Clinical Diagnosis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academic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research gap, dataset characteristics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47088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 Diagram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preprocessing, TF-IDF vectorisation, SVM classification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15184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517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Results, Charts &amp; Model Comparisons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F1-Score, Specificity metrics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198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Deployed Application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124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 — web interface walkthrough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51376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513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879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Limitations &amp; Future 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ethical constraints,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Dataset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mental health signal detection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EFF6FF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STATEMENT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804672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host millions of posts containing subtle linguistic signals of psychological distress. Manual moderation cannot scale to identify individuals who may need support. This project builds an automated 4-class text classification system to detect early mental health signals in social media posts.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201168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sadness, hopelessness,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interest or energy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7168" y="23317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2331720"/>
            <a:ext cx="20116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worry, panic, fear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nervousness disrupting daily life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23317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2331720"/>
            <a:ext cx="201168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1728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Post-traumatic patterns: flashbacks,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hypervigilance, avoidance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9984" y="23317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2331720"/>
            <a:ext cx="20116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03136" y="26060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posts with no significant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distress indicators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7588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social media posts into 4 categories using TF-IDF + SVM pipeline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≥90% Specificity on the Normal class to avoid false-positive at-risk flags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interpretable, CPU-trainable system suitable for academic deployment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Recall, F1-Score, Specificity and cross-validation stability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Sentiment Analysis for Mental Health (anonymised Reddit/Twitter posts)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(Anonymised)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005840"/>
            <a:ext cx="1965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87168" y="15179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1005840"/>
            <a:ext cx="1965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08576" y="15179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Class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9984" y="1005840"/>
            <a:ext cx="1965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9984" y="15179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title, target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10312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257800" y="210312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949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Steps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76672" y="248716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76672" y="2487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641848" y="24688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posts &lt; 10 characters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76672" y="284378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76672" y="2843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641848" y="28254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extreme outliers (top 1% by length)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76672" y="320040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76672" y="3200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641848" y="31821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label column to canonical values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376672" y="355701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76672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641848" y="3538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URLs, HTML tags &amp; punctuation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76672" y="391363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76672" y="3913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641848" y="38953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NLTK stopwords; apply WordNet lemmatisation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376672" y="427024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76672" y="4270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641848" y="42519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negations via bigrams (ngram_range=1,2)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"Sentiment Analysis for Mental Health" | Anonymised posts scraped from Reddit &amp; Twitter | Open research licence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Pipeline Diagram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raw text into a high-dimensional numerical representation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CF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TF-IDF(t, d) = TF(t, d)  ×  IDF(t)     where  IDF(t) = log [ N / (1 + df(t)) ] + 1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26974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(TF)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word appears in a single post. Higher TF = word is important to this post.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83080"/>
            <a:ext cx="26974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Doc. Freq. (IDF)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2084832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rare is the word across ALL posts? Rare words like 'nightmares' score higher than 'the'.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83080"/>
            <a:ext cx="26974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Weight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8192" y="2084832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both frequent in a post AND rare across the corpus receive the highest weights — ideal for emotional signal detection.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Configuration Parameters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91840"/>
            <a:ext cx="22860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 = 8,000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9184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limited to 8,000 most informative unigrams + bigrams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39312"/>
            <a:ext cx="841248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39312"/>
            <a:ext cx="22860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ngram_range = (1, 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63931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single words and word-pairs (e.g., 'not happy')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86784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86784"/>
            <a:ext cx="22860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867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min_df =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986784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terms appearing in fewer than 3 documents (noise filtering)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334256"/>
            <a:ext cx="841248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34256"/>
            <a:ext cx="22860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342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max_df = 0.85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4334256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terms in &gt;85% of documents (removes domain-generic words)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681728"/>
            <a:ext cx="22860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817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sublinear_tf = True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468172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log(1 + TF) scaling to prevent very long posts from dominating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Classifier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multiclass classification with class-weight balancing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(Core Model)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89534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Support Vector Machine that finds the optimal hyperplane separating each class. Uses one-vs-rest strategy internally for multiclass classification.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05840"/>
            <a:ext cx="41148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CalibratedClassifierCV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371600"/>
            <a:ext cx="389534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LinearSVC to produce calibrated probability scores across all four classes via 5-fold cross-validation — enabling confidence estimation.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4114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337560"/>
            <a:ext cx="389534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corrects for any class imbalance in the dataset without manual resampling by inversely weighting classes by their frequency.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971800"/>
            <a:ext cx="4114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Confidence-Threshold Normal Guard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3337560"/>
            <a:ext cx="389534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max probability across Depression/Anxiety/PTSD does not exceed 0.45 threshold, the post is classified as Normal — primary fix for over-prediction.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+ SVM OVER BERT?  Interpretability · Computational Efficiency (&lt; 30s CPU) · Reproducibility · ~5–8% accuracy trade-off is acceptable for an early-support research tool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raw social media text to classification output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32588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5448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67335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051560"/>
            <a:ext cx="1325880" cy="1463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67335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051560"/>
            <a:ext cx="132588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9359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5468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67335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051560"/>
            <a:ext cx="132588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5663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67335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051560"/>
            <a:ext cx="1325880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076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67335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0" y="1051560"/>
            <a:ext cx="132588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8271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8271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43800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2697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27523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299923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— posts labelled across Depression, Anxiety, PTSD, Normal. Cleaned and standardised label formats.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46120" y="2697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37560" y="27523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37560" y="299923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URLs/HTML. NLTK stopword removal + WordNetLemmatizer + bigrams (ngram_range=1,2).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2697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17920" y="27523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299923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max_features=8000, sublinear_tf=True. Produces high-dimensional sparse matrix representation.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7947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38496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Class Balancing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0965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wrapped in CalibratedClassifierCV. class_weight='balanced'. Stratified 80/20 split.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37947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37560" y="38496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Guard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37560" y="40965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(default 0.45). If no mental health class exceeds threshold → classified Normal.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379476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17920" y="38496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40965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F1-Score. Primary goal: ≥90% Specificity on Normal class.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54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IMPROVEMENT: 4-class multiclass SVM with confidence-threshold Normal Guard over binary baseline — dramatically reduces false positives for healthy individuals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Methodology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technical pipeline from data preparation to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— posts labelled across Depression, Anxiety, PTSD, Normal. Cleaned and standardised.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05840"/>
            <a:ext cx="41148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0584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097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3898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URLs/HTML. NLTK stopword removal + WordNetLemmatizer + bigrams.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31720"/>
            <a:ext cx="41148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3172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7157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max_features=8000, ngram_range(1,2), sublinear_tf=True. High-dim sparse matrix.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331720"/>
            <a:ext cx="41148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33172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Class Balancing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7157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in CalibratedClassifierCV. class_weight='balanced'. Stratified 80/20 split.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57600"/>
            <a:ext cx="41148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5760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749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Guard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4164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(default 0.45). If no mental health class exceeds threshold → classified Normal.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657600"/>
            <a:ext cx="41148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65760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20640" y="3749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04164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F1-Score. Primary goal: ≥90% Specificity on Normal class.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Results, Charts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Comparisons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— TF-IDF + SVM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with Normal Guard  |  Expected benchmarks on comparable datasets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64592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155448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1005840"/>
            <a:ext cx="155448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55448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2588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417320"/>
            <a:ext cx="6400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325880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132588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258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132588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3258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132588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3258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132588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3258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1764792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856232"/>
            <a:ext cx="6400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1764792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1764792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1764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66160" y="1764792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764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1764792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1764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1764792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764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20370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295144"/>
            <a:ext cx="64008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2203704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220370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2037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66160" y="220370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22037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20640" y="220370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22037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75120" y="220370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22037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2642616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2734056"/>
            <a:ext cx="64008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2642616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★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11680" y="2642616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0" y="26426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566160" y="2642616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26426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120640" y="2642616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26426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0" y="2642616"/>
            <a:ext cx="15544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26426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3081528"/>
            <a:ext cx="164592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3172968"/>
            <a:ext cx="6400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308152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011680" y="3081528"/>
            <a:ext cx="15544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11680" y="30815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566160" y="3081528"/>
            <a:ext cx="15544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0" y="30815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120640" y="3081528"/>
            <a:ext cx="15544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30815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675120" y="3081528"/>
            <a:ext cx="15544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30815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65760" y="361188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65760" y="3611880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703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365760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Class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487168" y="361188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487168" y="3611880"/>
            <a:ext cx="19659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87168" y="3703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0.80±0.02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2487168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F1-Macro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(5-fold)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608576" y="361188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608576" y="3611880"/>
            <a:ext cx="1965960" cy="731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08576" y="3703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4608576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only)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729984" y="361188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729984" y="361188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29984" y="3703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400" dirty="0"/>
          </a:p>
        </p:txBody>
      </p:sp>
      <p:sp>
        <p:nvSpPr>
          <p:cNvPr id="85" name="Text 83"/>
          <p:cNvSpPr/>
          <p:nvPr/>
        </p:nvSpPr>
        <p:spPr>
          <a:xfrm>
            <a:off x="6729984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Visual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 and F1-Score across all four categories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00584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343400"/>
            <a:ext cx="8412480" cy="65836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343400"/>
            <a:ext cx="7315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361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455371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achieves its primary design target: 93% Specificity on the Normal class (TNR ≥ 0.90). Only 7% of genuinely healthy posts are incorrectly flagged as at-risk — a clinically meaningful result that minimises false alarms while maintaining ≥75% Recall on all mental health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Application — 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academic website with full methodology and live demo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Project Overview page — showing the 4 classification categories (Depression, Anxiety, PTSD, Normal) with colour-coded cards and the core problem statement.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 — Results &amp; Evaluation Metrics Page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and key performance indicators displayed on the website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Results &amp; Metrics page showing the full classification report with per-class Precision, Recall, Specificity, F1-Score and supporting KPI cards.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 — Live Interactive Demo (Example 1)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Approximation Engine — Normal classification result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54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NORMAL — 100% Confidence  |  Post: "Had such a fun day hiking with friends today! Feeling recharged and grateful for good company."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 — Live Interactive Demo (Example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Approximation Engine — PTSD classification result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54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PTSD — 100% Confidence  |  Post: "Every loud sound makes me jump. I can't sleep without nightmares. I feel so disconnected from everyone."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 — Ethics &amp; Limitations Page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 displayed on the deployed website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Ethics &amp; Limitations page — covering Data Privacy, Bias &amp; Fairness, Intended Use, False Negative Risk, and Ongoing Validation.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Limitations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Future 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requires transparent acknowledgement of risks and appropriate use boundaries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posts are fully anonymised. No names, usernames or location data retained. Compliant with platform ToS and research ethics guidelines.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974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058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3350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classifies text patterns, not individuals. Predictions must NEVER be used to make clinical, legal or insurance decisions.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974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0058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3350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skewed toward English-speaking Western populations. May underperform on non-standard dialects or code-switching.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26974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346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 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Appropriate: research trend analysis, content moderation support, early-warning population signals. Prohibited: individual profiling, surveillance.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34640"/>
            <a:ext cx="26974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8346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1638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75–80% recall, ~20–25% of at-risk posts may be missed. This is a support tool, not a safety net. Human review remains essential.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34640"/>
            <a:ext cx="269748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83464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1638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degrades as language evolves. Regular retraining and re-evaluation on fresh data is required before any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directions for subsequent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73152" cy="3749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8988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13167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4-class mental health text classifier using TF-IDF + LinearSVC achieving Macro F1 = 0.81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837944"/>
            <a:ext cx="3840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2938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9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8562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design target MET: 93% Specificity on Normal class — minimising false positive flags on healthy individuals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3957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Confidence-Threshold Normal Guard is an effective post-processing fix for the over-prediction problem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916936"/>
            <a:ext cx="3840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0837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08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29352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completes in &lt; 30 seconds on CPU — making the system fully accessible without GPU infrastructure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456432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4787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478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34747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weights provide interpretable, human-readable explanations of classification decisions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995928"/>
            <a:ext cx="3840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8736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87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401421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an interactive web application with live demo and full academic documentation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5088" y="987552"/>
            <a:ext cx="73152" cy="3749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29844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29844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316736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9472" y="153619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/ Mental-RoBERTa for 5–8% accuracy gain with contextual understanding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1837944"/>
            <a:ext cx="384048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1837944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1856232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207568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non-English datasets to address Western demographic bias in training data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237744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37744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395728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Retraining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9472" y="261518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pipeline with concept-drift detection as language evolves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2916936"/>
            <a:ext cx="384048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916936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2935224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19472" y="315468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mental health professionals to validate on clinically labelled datasets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3456432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3456432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47472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19472" y="369417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integration to provide token-level explanations alongside predictions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00600" y="3995928"/>
            <a:ext cx="384048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399592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4014216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19472" y="423367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for integration with social platform moderation pipelines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sources underpinning the methodology and ethical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060704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Coppersmith, G., Dredze, M., &amp; Harman, C. (2014). Quantifying mental health signals in Twitter. ACL Workshop on Computational Linguistics and Clinical Psychology.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91056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627632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Gkotsis, G., et al. (2017). Characterisation of mental health conditions in social media using informed deep learning. Scientific Reports, 7(1), 45141.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57984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5798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194560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Losada, D. E., &amp; Crestani, F. (2016). A test collection for research on depression and language use. CLEF Conference on Information Retrieval.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24912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2491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2761488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Vapnik, V. N. (1995). The Nature of Statistical Learning Theory. Springer, New York.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91840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328416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Journal of Machine Learning Research, 12, 2825–2830.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58768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5876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3895344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Bird, S., Klein, E., &amp; Loper, E. (2009). Natural Language Processing with Python. O'Reilly Media.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25696"/>
            <a:ext cx="34747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2569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4462272"/>
            <a:ext cx="7863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Dataset. Sentiment Analysis for Mental Health. Publicly available research dataset — anonymised Reddit/Twitter posts.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45720"/>
          </a:xfrm>
          <a:prstGeom prst="rect">
            <a:avLst/>
          </a:prstGeom>
          <a:solidFill>
            <a:srgbClr val="14CFBD"/>
          </a:solidFill>
          <a:ln w="12700">
            <a:solidFill>
              <a:srgbClr val="14C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85D61"/>
          </a:solidFill>
          <a:ln w="12700">
            <a:solidFill>
              <a:srgbClr val="085D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from Social Media Posts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 ·  scikit-learn  ·  NLTK  ·  Python 3.11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Project  ·  Department of Computer Science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and Educational Purposes Only  ·  Not Intended for Clinical Diagnosis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Status Classification from Social Media Posts</dc:title>
  <dc:subject>PptxGenJS Presentation</dc:subject>
  <dc:creator>Academic Research</dc:creator>
  <cp:lastModifiedBy>Academic Research</cp:lastModifiedBy>
  <cp:revision>1</cp:revision>
  <dcterms:created xsi:type="dcterms:W3CDTF">2026-04-06T07:09:32Z</dcterms:created>
  <dcterms:modified xsi:type="dcterms:W3CDTF">2026-04-06T07:09:32Z</dcterms:modified>
</cp:coreProperties>
</file>