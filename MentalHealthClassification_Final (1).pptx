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A2E4A"/>
                </a:solidFill>
                <a:latin typeface="Arial"/>
              </a:defRPr>
            </a:pPr>
            <a:r>
              <a:rPr lang="en-IN" sz="1200" b="0" i="0" u="none" strike="noStrike">
                <a:solidFill>
                  <a:srgbClr val="1A2E4A"/>
                </a:solidFill>
                <a:latin typeface="Arial"/>
              </a:rPr>
              <a:t>Class Distribution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Samples</c:v>
                </c:pt>
              </c:strCache>
            </c:strRef>
          </c:tx>
          <c:spPr>
            <a:solidFill>
              <a:srgbClr val="B45309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9ED2-463E-87B9-CCE9A767160E}"/>
              </c:ext>
            </c:extLst>
          </c:dPt>
          <c:dPt>
            <c:idx val="1"/>
            <c:invertIfNegative val="0"/>
            <c:bubble3D val="0"/>
            <c:spPr>
              <a:solidFill>
                <a:srgbClr val="EF444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9ED2-463E-87B9-CCE9A767160E}"/>
              </c:ext>
            </c:extLst>
          </c:dPt>
          <c:dPt>
            <c:idx val="2"/>
            <c:invertIfNegative val="0"/>
            <c:bubble3D val="0"/>
            <c:spPr>
              <a:solidFill>
                <a:srgbClr val="8B5CF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9ED2-463E-87B9-CCE9A767160E}"/>
              </c:ext>
            </c:extLst>
          </c:dPt>
          <c:dPt>
            <c:idx val="3"/>
            <c:invertIfNegative val="0"/>
            <c:bubble3D val="0"/>
            <c:spPr>
              <a:solidFill>
                <a:srgbClr val="64748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9ED2-463E-87B9-CCE9A767160E}"/>
              </c:ext>
            </c:extLst>
          </c:dPt>
          <c:dPt>
            <c:idx val="4"/>
            <c:invertIfNegative val="0"/>
            <c:bubble3D val="0"/>
            <c:spPr>
              <a:solidFill>
                <a:srgbClr val="22C55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9ED2-463E-87B9-CCE9A767160E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Anxiety</c:v>
                </c:pt>
                <c:pt idx="1">
                  <c:v>Depression</c:v>
                </c:pt>
                <c:pt idx="2">
                  <c:v>PTSD</c:v>
                </c:pt>
                <c:pt idx="3">
                  <c:v>Personality
Disorder</c:v>
                </c:pt>
                <c:pt idx="4">
                  <c:v>Normal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1181</c:v>
                </c:pt>
                <c:pt idx="1">
                  <c:v>1202</c:v>
                </c:pt>
                <c:pt idx="2">
                  <c:v>1185</c:v>
                </c:pt>
                <c:pt idx="3">
                  <c:v>1201</c:v>
                </c:pt>
                <c:pt idx="4">
                  <c:v>1188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9ED2-463E-87B9-CCE9A767160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A2E4A"/>
                </a:solidFill>
                <a:latin typeface="Arial"/>
              </a:defRPr>
            </a:pPr>
            <a:r>
              <a:rPr lang="en-IN" sz="1100" b="0" i="0" u="none" strike="noStrike">
                <a:solidFill>
                  <a:srgbClr val="1A2E4A"/>
                </a:solidFill>
                <a:latin typeface="Arial"/>
              </a:rPr>
              <a:t>Per-Class Performance Metrics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Precision</c:v>
                </c:pt>
              </c:strCache>
            </c:strRef>
          </c:tx>
          <c:spPr>
            <a:solidFill>
              <a:srgbClr val="1A2E4A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Depression</c:v>
                </c:pt>
                <c:pt idx="1">
                  <c:v>Anxiety</c:v>
                </c:pt>
                <c:pt idx="2">
                  <c:v>PTSD</c:v>
                </c:pt>
                <c:pt idx="3">
                  <c:v>Normal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0.82</c:v>
                </c:pt>
                <c:pt idx="1">
                  <c:v>0.78</c:v>
                </c:pt>
                <c:pt idx="2">
                  <c:v>0.75</c:v>
                </c:pt>
                <c:pt idx="3">
                  <c:v>0.89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F1D-4B05-8997-64F2140EC88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Recall</c:v>
                </c:pt>
              </c:strCache>
            </c:strRef>
          </c:tx>
          <c:spPr>
            <a:solidFill>
              <a:srgbClr val="0D7377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Depression</c:v>
                </c:pt>
                <c:pt idx="1">
                  <c:v>Anxiety</c:v>
                </c:pt>
                <c:pt idx="2">
                  <c:v>PTSD</c:v>
                </c:pt>
                <c:pt idx="3">
                  <c:v>Normal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0.8</c:v>
                </c:pt>
                <c:pt idx="1">
                  <c:v>0.77</c:v>
                </c:pt>
                <c:pt idx="2">
                  <c:v>0.76</c:v>
                </c:pt>
                <c:pt idx="3">
                  <c:v>0.91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F1D-4B05-8997-64F2140EC88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F1-Score</c:v>
                </c:pt>
              </c:strCache>
            </c:strRef>
          </c:tx>
          <c:spPr>
            <a:solidFill>
              <a:srgbClr val="14CFBD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Depression</c:v>
                </c:pt>
                <c:pt idx="1">
                  <c:v>Anxiety</c:v>
                </c:pt>
                <c:pt idx="2">
                  <c:v>PTSD</c:v>
                </c:pt>
                <c:pt idx="3">
                  <c:v>Normal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0.81</c:v>
                </c:pt>
                <c:pt idx="1">
                  <c:v>0.77</c:v>
                </c:pt>
                <c:pt idx="2">
                  <c:v>0.75</c:v>
                </c:pt>
                <c:pt idx="3">
                  <c:v>0.9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F1D-4B05-8997-64F2140EC88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0.5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/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A2E4A"/>
                </a:solidFill>
                <a:latin typeface="Arial"/>
              </a:defRPr>
            </a:pPr>
            <a:r>
              <a:rPr lang="en-IN" sz="1100" b="0" i="0" u="none" strike="noStrike">
                <a:solidFill>
                  <a:srgbClr val="1A2E4A"/>
                </a:solidFill>
                <a:latin typeface="Arial"/>
              </a:rPr>
              <a:t>Specificity per Class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Specificity</c:v>
                </c:pt>
              </c:strCache>
            </c:strRef>
          </c:tx>
          <c:spPr>
            <a:solidFill>
              <a:srgbClr val="EF4444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CC80-46A2-9B11-BA7611A82821}"/>
              </c:ext>
            </c:extLst>
          </c:dPt>
          <c:dPt>
            <c:idx val="1"/>
            <c:invertIfNegative val="0"/>
            <c:bubble3D val="0"/>
            <c:spPr>
              <a:solidFill>
                <a:srgbClr val="F59E0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CC80-46A2-9B11-BA7611A82821}"/>
              </c:ext>
            </c:extLst>
          </c:dPt>
          <c:dPt>
            <c:idx val="2"/>
            <c:invertIfNegative val="0"/>
            <c:bubble3D val="0"/>
            <c:spPr>
              <a:solidFill>
                <a:srgbClr val="8B5CF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CC80-46A2-9B11-BA7611A82821}"/>
              </c:ext>
            </c:extLst>
          </c:dPt>
          <c:dPt>
            <c:idx val="3"/>
            <c:invertIfNegative val="0"/>
            <c:bubble3D val="0"/>
            <c:spPr>
              <a:solidFill>
                <a:srgbClr val="22C55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CC80-46A2-9B11-BA7611A82821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Depression</c:v>
                </c:pt>
                <c:pt idx="1">
                  <c:v>Anxiety</c:v>
                </c:pt>
                <c:pt idx="2">
                  <c:v>PTSD</c:v>
                </c:pt>
                <c:pt idx="3">
                  <c:v>Normal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0.91</c:v>
                </c:pt>
                <c:pt idx="1">
                  <c:v>0.92</c:v>
                </c:pt>
                <c:pt idx="2">
                  <c:v>0.94</c:v>
                </c:pt>
                <c:pt idx="3">
                  <c:v>0.93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C80-46A2-9B11-BA7611A82821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0.85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723364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45720"/>
          </a:xfrm>
          <a:prstGeom prst="rect">
            <a:avLst/>
          </a:prstGeom>
          <a:solidFill>
            <a:srgbClr val="14CFBD"/>
          </a:solidFill>
          <a:ln w="12700">
            <a:solidFill>
              <a:srgbClr val="14CFB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3977640"/>
            <a:ext cx="9144000" cy="1165860"/>
          </a:xfrm>
          <a:prstGeom prst="rect">
            <a:avLst/>
          </a:prstGeom>
          <a:solidFill>
            <a:srgbClr val="085D61"/>
          </a:solidFill>
          <a:ln w="12700">
            <a:solidFill>
              <a:srgbClr val="085D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kern="0" spc="200" dirty="0">
                <a:solidFill>
                  <a:srgbClr val="14CF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RESEARCH PROJECT  ·  MACHINE LEARNING  ·  NLP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8229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Mental Health Status</a:t>
            </a:r>
            <a:endParaRPr lang="en-US" sz="3600" dirty="0"/>
          </a:p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from Social Media Posts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365760" y="2788920"/>
            <a:ext cx="1920240" cy="868680"/>
          </a:xfrm>
          <a:prstGeom prst="rect">
            <a:avLst/>
          </a:prstGeom>
          <a:solidFill>
            <a:srgbClr val="1E3A5A"/>
          </a:solidFill>
          <a:ln w="12700">
            <a:solidFill>
              <a:srgbClr val="0D7377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65760" y="2816352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rgbClr val="14CF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365760" y="306324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+ SVM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468880" y="2788920"/>
            <a:ext cx="1920240" cy="868680"/>
          </a:xfrm>
          <a:prstGeom prst="rect">
            <a:avLst/>
          </a:prstGeom>
          <a:solidFill>
            <a:srgbClr val="1E3A5A"/>
          </a:solidFill>
          <a:ln w="12700">
            <a:solidFill>
              <a:srgbClr val="0D7377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468880" y="2816352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rgbClr val="14CF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2468880" y="306324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Kaggle – Sentiment Analysis for Mental Health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0" y="2788920"/>
            <a:ext cx="1920240" cy="868680"/>
          </a:xfrm>
          <a:prstGeom prst="rect">
            <a:avLst/>
          </a:prstGeom>
          <a:solidFill>
            <a:srgbClr val="1E3A5A"/>
          </a:solidFill>
          <a:ln w="12700">
            <a:solidFill>
              <a:srgbClr val="0D7377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572000" y="2816352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rgbClr val="14CF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CATEGORIES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4572000" y="306324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Depression · Anxiety · PTSD · Normal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675120" y="2788920"/>
            <a:ext cx="1920240" cy="868680"/>
          </a:xfrm>
          <a:prstGeom prst="rect">
            <a:avLst/>
          </a:prstGeom>
          <a:solidFill>
            <a:srgbClr val="1E3A5A"/>
          </a:solidFill>
          <a:ln w="12700">
            <a:solidFill>
              <a:srgbClr val="0D7377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675120" y="2816352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rgbClr val="14CF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SAMPLES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6675120" y="306324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5,957 anonymised social media posts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0" y="3977640"/>
            <a:ext cx="9144000" cy="11658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Research &amp; Educational Purposes Only  ·  Not Intended for Clinical Diagnosis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Outline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65760" y="713232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of this academic presentation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078992"/>
            <a:ext cx="502920" cy="658368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078992"/>
            <a:ext cx="502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4CF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60120" y="1115568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&amp; Dataset Overview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60120" y="1408176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Motivation, research gap, dataset characteristics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65760" y="1847088"/>
            <a:ext cx="84124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1847088"/>
            <a:ext cx="502920" cy="658368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847088"/>
            <a:ext cx="502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4CF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60120" y="1883664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 &amp; Pipeline Diagram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60120" y="2176272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preprocessing, TF-IDF vectorisation, SVM classification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760" y="2615184"/>
            <a:ext cx="84124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615184"/>
            <a:ext cx="502920" cy="658368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615184"/>
            <a:ext cx="502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4CF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60120" y="2651760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Results, Charts &amp; Model Comparisons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60120" y="2944368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Precision, Recall, F1-Score, Specificity metrics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760" y="3383280"/>
            <a:ext cx="84124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383280"/>
            <a:ext cx="502920" cy="658368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65760" y="3383280"/>
            <a:ext cx="502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4CF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60120" y="3419856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Screenshots of the Deployed Application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60120" y="3712464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interactive demo — web interface walkthrough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65760" y="4151376"/>
            <a:ext cx="84124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65760" y="4151376"/>
            <a:ext cx="502920" cy="658368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151376"/>
            <a:ext cx="502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4CF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960120" y="4187952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Conclusions, Limitations &amp; Future Work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960120" y="4480560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Findings, ethical constraints, and next steps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389120"/>
            <a:ext cx="9144000" cy="4572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434840"/>
            <a:ext cx="9144000" cy="708660"/>
          </a:xfrm>
          <a:prstGeom prst="rect">
            <a:avLst/>
          </a:prstGeom>
          <a:solidFill>
            <a:srgbClr val="085D61"/>
          </a:solidFill>
          <a:ln w="12700">
            <a:solidFill>
              <a:srgbClr val="085D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371600"/>
            <a:ext cx="80467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4000" dirty="0"/>
          </a:p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Dataset Overview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48640" y="2834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14CF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0" y="4434840"/>
            <a:ext cx="9144000" cy="7086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Mental Health Status Classification from Social Media Posts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65760" y="713232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automated mental health signal detection matters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51560"/>
            <a:ext cx="8412480" cy="1097280"/>
          </a:xfrm>
          <a:prstGeom prst="rect">
            <a:avLst/>
          </a:prstGeom>
          <a:solidFill>
            <a:srgbClr val="EFF6FF"/>
          </a:solidFill>
          <a:ln w="19050">
            <a:solidFill>
              <a:srgbClr val="0D7377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051560"/>
            <a:ext cx="73152" cy="109728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078992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PROBLEM STATEMENT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1298448"/>
            <a:ext cx="8046720" cy="7955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platforms host millions of posts containing subtle linguistic signals of psychological distress. Manual moderation cannot scale to identify individuals who may need support. This project builds an automated 4-class text classification system to detect early mental health signals in social media posts.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2331720"/>
            <a:ext cx="20116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65760" y="2331720"/>
            <a:ext cx="2011680" cy="256032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23317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DEPRESSION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38912" y="2606040"/>
            <a:ext cx="1865376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sadness, hopelessness,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of interest or energy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487168" y="2331720"/>
            <a:ext cx="20116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487168" y="2331720"/>
            <a:ext cx="2011680" cy="25603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487168" y="23317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ANXIETY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560320" y="2606040"/>
            <a:ext cx="1865376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Excessive worry, panic, fear or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nervousness disrupting daily life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608576" y="2331720"/>
            <a:ext cx="20116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08576" y="2331720"/>
            <a:ext cx="2011680" cy="256032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08576" y="23317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PTSD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681728" y="2606040"/>
            <a:ext cx="1865376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Post-traumatic patterns: flashbacks,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hypervigilance, avoidance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729984" y="2331720"/>
            <a:ext cx="20116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729984" y="2331720"/>
            <a:ext cx="2011680" cy="256032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29984" y="23317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803136" y="2606040"/>
            <a:ext cx="1865376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Everyday posts with no significant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mental health distress indicators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65760" y="3429000"/>
            <a:ext cx="84124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Objectives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7200" y="3675888"/>
            <a:ext cx="8229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 social media posts into 4 categories using TF-IDF + SVM pipeline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Achieve ≥90% Specificity on the Normal class to avoid false-positive at-risk flags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an interpretable, CPU-trainable system suitable for academic deployment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with Precision, Recall, F1-Score, Specificity and cross-validation stability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Overview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65760" y="713232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Kaggle – Sentiment Analysis for Mental Health (anonymised Reddit/Twitter posts)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05840"/>
            <a:ext cx="1965960" cy="96012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65760" y="1024128"/>
            <a:ext cx="1965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4CF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5,957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365760" y="1517904"/>
            <a:ext cx="1965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Posts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(Anonymised)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487168" y="1005840"/>
            <a:ext cx="1965960" cy="96012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487168" y="1024128"/>
            <a:ext cx="1965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4CF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2487168" y="1517904"/>
            <a:ext cx="1965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Categories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608576" y="1005840"/>
            <a:ext cx="1965960" cy="96012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08576" y="1024128"/>
            <a:ext cx="1965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4CF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~1,190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4608576" y="1517904"/>
            <a:ext cx="1965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Posts per Class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(Balanced)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729984" y="1005840"/>
            <a:ext cx="1965960" cy="96012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729984" y="1024128"/>
            <a:ext cx="1965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4CF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6729984" y="1517904"/>
            <a:ext cx="1965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Features: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text, title, target</a:t>
            </a:r>
            <a:endParaRPr lang="en-US" sz="900" dirty="0"/>
          </a:p>
        </p:txBody>
      </p:sp>
      <p:graphicFrame>
        <p:nvGraphicFramePr>
          <p:cNvPr id="17" name="Chart 0"/>
          <p:cNvGraphicFramePr/>
          <p:nvPr/>
        </p:nvGraphicFramePr>
        <p:xfrm>
          <a:off x="365760" y="2103120"/>
          <a:ext cx="4754880" cy="2651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8" name="Shape 15"/>
          <p:cNvSpPr/>
          <p:nvPr/>
        </p:nvSpPr>
        <p:spPr>
          <a:xfrm>
            <a:off x="5257800" y="2103120"/>
            <a:ext cx="352044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5394960" y="214884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Preprocessing Steps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376672" y="2487168"/>
            <a:ext cx="201168" cy="201168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376672" y="2487168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00" dirty="0"/>
          </a:p>
        </p:txBody>
      </p:sp>
      <p:sp>
        <p:nvSpPr>
          <p:cNvPr id="22" name="Text 19"/>
          <p:cNvSpPr/>
          <p:nvPr/>
        </p:nvSpPr>
        <p:spPr>
          <a:xfrm>
            <a:off x="5641848" y="2468880"/>
            <a:ext cx="3017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duplicates and posts &lt; 10 characters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5376672" y="2843784"/>
            <a:ext cx="201168" cy="201168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376672" y="2843784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5641848" y="2825496"/>
            <a:ext cx="3017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extreme outliers (top 1% by length)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5376672" y="3200400"/>
            <a:ext cx="201168" cy="201168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376672" y="3200400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5641848" y="3182112"/>
            <a:ext cx="3017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Standardise label column to canonical values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5376672" y="3557016"/>
            <a:ext cx="201168" cy="201168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5376672" y="3557016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5641848" y="3538728"/>
            <a:ext cx="3017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Lowercase, strip URLs, HTML tags &amp; punctuation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5376672" y="3913632"/>
            <a:ext cx="201168" cy="201168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376672" y="3913632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00" dirty="0"/>
          </a:p>
        </p:txBody>
      </p:sp>
      <p:sp>
        <p:nvSpPr>
          <p:cNvPr id="34" name="Text 31"/>
          <p:cNvSpPr/>
          <p:nvPr/>
        </p:nvSpPr>
        <p:spPr>
          <a:xfrm>
            <a:off x="5641848" y="3895344"/>
            <a:ext cx="3017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NLTK stopwords; apply WordNet lemmatisation</a:t>
            </a:r>
            <a:endParaRPr lang="en-US" sz="900" dirty="0"/>
          </a:p>
        </p:txBody>
      </p:sp>
      <p:sp>
        <p:nvSpPr>
          <p:cNvPr id="35" name="Shape 32"/>
          <p:cNvSpPr/>
          <p:nvPr/>
        </p:nvSpPr>
        <p:spPr>
          <a:xfrm>
            <a:off x="5376672" y="4270248"/>
            <a:ext cx="201168" cy="201168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5376672" y="4270248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00" dirty="0"/>
          </a:p>
        </p:txBody>
      </p:sp>
      <p:sp>
        <p:nvSpPr>
          <p:cNvPr id="37" name="Text 34"/>
          <p:cNvSpPr/>
          <p:nvPr/>
        </p:nvSpPr>
        <p:spPr>
          <a:xfrm>
            <a:off x="5641848" y="4251960"/>
            <a:ext cx="3017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Preserve negations via bigrams (ngram_range=1,2)</a:t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365760" y="4773168"/>
            <a:ext cx="8412480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457200" y="4773168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Kaggle — "Sentiment Analysis for Mental Health" | Anonymised posts scraped from Reddit &amp; Twitter | Open research licence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389120"/>
            <a:ext cx="9144000" cy="4572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434840"/>
            <a:ext cx="9144000" cy="708660"/>
          </a:xfrm>
          <a:prstGeom prst="rect">
            <a:avLst/>
          </a:prstGeom>
          <a:solidFill>
            <a:srgbClr val="085D61"/>
          </a:solidFill>
          <a:ln w="12700">
            <a:solidFill>
              <a:srgbClr val="085D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371600"/>
            <a:ext cx="80467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4000" dirty="0"/>
          </a:p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Pipeline Diagram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48640" y="2834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14CF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0" y="4434840"/>
            <a:ext cx="9144000" cy="7086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Mental Health Status Classification from Social Media Posts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Vectorisation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4846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Converting raw text into a high-dimensional numerical representation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024128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1783080"/>
            <a:ext cx="26974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65760" y="1783080"/>
            <a:ext cx="2697480" cy="27432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1783080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 Frequency (TF)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38912" y="2084832"/>
            <a:ext cx="255117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often a word appears in a single post. Higher TF = word is important to this post.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200400" y="1783080"/>
            <a:ext cx="26974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0" y="1783080"/>
            <a:ext cx="2697480" cy="27432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00400" y="1783080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Inverse Doc. Freq. (IDF)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273552" y="2084832"/>
            <a:ext cx="255117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rare is the word across ALL posts? Rare words like 'nightmares' score higher than 'the'.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35040" y="1783080"/>
            <a:ext cx="26974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035040" y="1783080"/>
            <a:ext cx="2697480" cy="27432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35040" y="1783080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Weight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108192" y="2084832"/>
            <a:ext cx="255117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Words both frequent in a post AND rare across the corpus receive the highest weights — ideal for emotional signal detection.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365760" y="297180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Configuration Parameters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65760" y="3291840"/>
            <a:ext cx="841248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5760" y="3291840"/>
            <a:ext cx="2286000" cy="329184"/>
          </a:xfrm>
          <a:prstGeom prst="rect">
            <a:avLst/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3291840"/>
            <a:ext cx="21945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73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max_features = 8,000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834640" y="3291840"/>
            <a:ext cx="5852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 limited to 8,000 most informative unigrams + bigrams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760" y="3639312"/>
            <a:ext cx="8412480" cy="329184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65760" y="3639312"/>
            <a:ext cx="2286000" cy="329184"/>
          </a:xfrm>
          <a:prstGeom prst="rect">
            <a:avLst/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" y="3639312"/>
            <a:ext cx="21945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73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ngram_range = (1, 2)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2834640" y="3639312"/>
            <a:ext cx="5852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Captures both single words and word-pairs (e.g., 'not happy')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65760" y="3986784"/>
            <a:ext cx="841248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65760" y="3986784"/>
            <a:ext cx="2286000" cy="329184"/>
          </a:xfrm>
          <a:prstGeom prst="rect">
            <a:avLst/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57200" y="3986784"/>
            <a:ext cx="21945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73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min_df = 3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2834640" y="3986784"/>
            <a:ext cx="5852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Ignores terms appearing in fewer than 3 documents (noise filtering)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65760" y="4334256"/>
            <a:ext cx="8412480" cy="329184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5760" y="4334256"/>
            <a:ext cx="2286000" cy="329184"/>
          </a:xfrm>
          <a:prstGeom prst="rect">
            <a:avLst/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7200" y="4334256"/>
            <a:ext cx="21945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73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max_df = 0.85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2834640" y="4334256"/>
            <a:ext cx="5852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Ignores terms in &gt;85% of documents (removes domain-generic words)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65760" y="4681728"/>
            <a:ext cx="841248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681728"/>
            <a:ext cx="2286000" cy="329184"/>
          </a:xfrm>
          <a:prstGeom prst="rect">
            <a:avLst/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7200" y="4681728"/>
            <a:ext cx="21945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73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sublinear_tf = True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2834640" y="4681728"/>
            <a:ext cx="5852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Applies log(1 + TF) scaling to prevent very long posts from dominating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Vector Machine Classifier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65760" y="713232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4-class multiclass classification with class-weight balancing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05840"/>
            <a:ext cx="411480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005840"/>
            <a:ext cx="4114800" cy="32004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0584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LinearSVC (Core Model)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75488" y="1371600"/>
            <a:ext cx="3895344" cy="1353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Linear Support Vector Machine that finds the optimal hyperplane separating each class. Uses one-vs-rest strategy internally for multiclass classification.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617720" y="1005840"/>
            <a:ext cx="411480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17720" y="1005840"/>
            <a:ext cx="4114800" cy="32004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09160" y="100584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CalibratedClassifierCV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727448" y="1371600"/>
            <a:ext cx="3895344" cy="1353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Wraps LinearSVC to produce calibrated probability scores across all four classes via 5-fold cross-validation — enabling confidence estimation.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65760" y="2971800"/>
            <a:ext cx="411480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65760" y="2971800"/>
            <a:ext cx="4114800" cy="3200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297180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class_weight = 'balanced'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75488" y="3337560"/>
            <a:ext cx="3895344" cy="1353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Automatically corrects for any class imbalance in the dataset without manual resampling by inversely weighting classes by their frequency.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617720" y="2971800"/>
            <a:ext cx="411480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17720" y="2971800"/>
            <a:ext cx="4114800" cy="32004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09160" y="297180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Confidence-Threshold Normal Guard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727448" y="3337560"/>
            <a:ext cx="3895344" cy="1353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max probability across Depression/Anxiety/PTSD does not exceed 0.45 threshold, the post is classified as Normal — primary fix for over-prediction.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65760" y="4709160"/>
            <a:ext cx="8412480" cy="292608"/>
          </a:xfrm>
          <a:prstGeom prst="rect">
            <a:avLst/>
          </a:prstGeom>
          <a:solidFill>
            <a:srgbClr val="EFF6FF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470916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TF-IDF + SVM OVER BERT?  Interpretability · Computational Efficiency (&lt; 30s CPU) · Reproducibility · ~5–8% accuracy trade-off is acceptable for an early-support research tool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Processing Pipeline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65760" y="713232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workflow from raw social media text to classification output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28600" y="1051560"/>
            <a:ext cx="1325880" cy="146304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67512" y="114300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7512" y="1143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28600" y="1691640"/>
            <a:ext cx="1325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 &amp;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Anonymise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1554480" y="1783080"/>
            <a:ext cx="13716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600200" y="1673352"/>
            <a:ext cx="137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691640" y="1051560"/>
            <a:ext cx="1325880" cy="146304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130552" y="114300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130552" y="1143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691640" y="1691640"/>
            <a:ext cx="1325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&amp;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017520" y="1783080"/>
            <a:ext cx="13716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063240" y="1673352"/>
            <a:ext cx="137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154680" y="1051560"/>
            <a:ext cx="1325880" cy="146304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593592" y="114300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593592" y="1143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154680" y="1691640"/>
            <a:ext cx="1325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Vectorise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480560" y="1783080"/>
            <a:ext cx="13716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26280" y="1673352"/>
            <a:ext cx="137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617720" y="1051560"/>
            <a:ext cx="1325880" cy="14630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056632" y="114300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56632" y="1143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617720" y="1691640"/>
            <a:ext cx="1325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SVM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943600" y="1783080"/>
            <a:ext cx="13716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989320" y="1673352"/>
            <a:ext cx="137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080760" y="1051560"/>
            <a:ext cx="1325880" cy="146304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519672" y="114300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19672" y="1143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080760" y="1691640"/>
            <a:ext cx="1325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7406640" y="1783080"/>
            <a:ext cx="13716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452360" y="1673352"/>
            <a:ext cx="137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543800" y="1051560"/>
            <a:ext cx="1325880" cy="146304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7982712" y="114300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982712" y="1143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7543800" y="1691640"/>
            <a:ext cx="1325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Ethical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365760" y="2697480"/>
            <a:ext cx="27432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457200" y="2752344"/>
            <a:ext cx="25603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Collection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57200" y="2999232"/>
            <a:ext cx="25603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Kaggle dataset — posts labelled across Depression, Anxiety, PTSD, Normal. Cleaned and standardised label formats.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246120" y="2697480"/>
            <a:ext cx="27432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3337560" y="2752344"/>
            <a:ext cx="25603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Preprocessing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3337560" y="2999232"/>
            <a:ext cx="25603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Lowercase, remove URLs/HTML. NLTK stopword removal + WordNetLemmatizer + bigrams (ngram_range=1,2).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126480" y="2697480"/>
            <a:ext cx="27432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6217920" y="2752344"/>
            <a:ext cx="25603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Vectorisation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6217920" y="2999232"/>
            <a:ext cx="25603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max_features=8000, sublinear_tf=True. Produces high-dimensional sparse matrix representation.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65760" y="3794760"/>
            <a:ext cx="27432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457200" y="3849624"/>
            <a:ext cx="25603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SVM + Class Balancing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457200" y="4096512"/>
            <a:ext cx="25603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LinearSVC wrapped in CalibratedClassifierCV. class_weight='balanced'. Stratified 80/20 split.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246120" y="3794760"/>
            <a:ext cx="27432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3337560" y="3849624"/>
            <a:ext cx="25603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Guard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3337560" y="4096512"/>
            <a:ext cx="25603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threshold (default 0.45). If no mental health class exceeds threshold → classified Normal.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126480" y="3794760"/>
            <a:ext cx="27432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5" name="Text 53"/>
          <p:cNvSpPr/>
          <p:nvPr/>
        </p:nvSpPr>
        <p:spPr>
          <a:xfrm>
            <a:off x="6217920" y="3849624"/>
            <a:ext cx="25603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6217920" y="4096512"/>
            <a:ext cx="25603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Per-class Precision, Recall, F1-Score. Primary goal: ≥90% Specificity on Normal class.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365760" y="4754880"/>
            <a:ext cx="8412480" cy="246888"/>
          </a:xfrm>
          <a:prstGeom prst="rect">
            <a:avLst/>
          </a:prstGeom>
          <a:solidFill>
            <a:srgbClr val="EFF6FF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7200" y="4754880"/>
            <a:ext cx="82296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IMPROVEMENT: 4-class multiclass SVM with confidence-threshold Normal Guard over binary baseline — dramatically reduces false positives for healthy individuals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389120"/>
            <a:ext cx="9144000" cy="4572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434840"/>
            <a:ext cx="9144000" cy="708660"/>
          </a:xfrm>
          <a:prstGeom prst="rect">
            <a:avLst/>
          </a:prstGeom>
          <a:solidFill>
            <a:srgbClr val="085D61"/>
          </a:solidFill>
          <a:ln w="12700">
            <a:solidFill>
              <a:srgbClr val="085D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371600"/>
            <a:ext cx="80467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Results, Charts</a:t>
            </a:r>
            <a:endParaRPr lang="en-US" sz="4000" dirty="0"/>
          </a:p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Model Comparisons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48640" y="2834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14CF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0" y="4434840"/>
            <a:ext cx="9144000" cy="7086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Mental Health Status Classification from Social Media Posts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Report — TF-IDF + SVM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65760" y="713232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4-class with Normal Guard  |  Expected benchmarks on comparable datasets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05840"/>
            <a:ext cx="1645920" cy="32004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005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011680" y="1005840"/>
            <a:ext cx="1554480" cy="32004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011680" y="100584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566160" y="1005840"/>
            <a:ext cx="1554480" cy="32004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66160" y="100584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120640" y="1005840"/>
            <a:ext cx="1554480" cy="32004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20640" y="100584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SPECIFICITY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675120" y="1005840"/>
            <a:ext cx="1554480" cy="32004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75120" y="100584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F1-SCORE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65760" y="1325880"/>
            <a:ext cx="164592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65760" y="1417320"/>
            <a:ext cx="64008" cy="237744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5488" y="1325880"/>
            <a:ext cx="153619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Depression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011680" y="1325880"/>
            <a:ext cx="155448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011680" y="1325880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0.82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566160" y="1325880"/>
            <a:ext cx="155448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566160" y="1325880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0.80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120640" y="1325880"/>
            <a:ext cx="155448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20640" y="1325880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0.91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675120" y="1325880"/>
            <a:ext cx="155448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675120" y="1325880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0.81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365760" y="1764792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1856232"/>
            <a:ext cx="64008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5488" y="1764792"/>
            <a:ext cx="153619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Anxiety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2011680" y="1764792"/>
            <a:ext cx="155448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011680" y="1764792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0.78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566160" y="1764792"/>
            <a:ext cx="155448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566160" y="1764792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0.77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5120640" y="1764792"/>
            <a:ext cx="155448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120640" y="1764792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0.92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675120" y="1764792"/>
            <a:ext cx="155448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675120" y="1764792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0.77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65760" y="2203704"/>
            <a:ext cx="164592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65760" y="2295144"/>
            <a:ext cx="64008" cy="237744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75488" y="2203704"/>
            <a:ext cx="153619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PTSD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2011680" y="2203704"/>
            <a:ext cx="155448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011680" y="2203704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0.75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3566160" y="2203704"/>
            <a:ext cx="155448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566160" y="2203704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0.76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5120640" y="2203704"/>
            <a:ext cx="155448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120640" y="2203704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0.94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6675120" y="2203704"/>
            <a:ext cx="155448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75120" y="2203704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0.75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365760" y="2642616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65760" y="2734056"/>
            <a:ext cx="64008" cy="237744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75488" y="2642616"/>
            <a:ext cx="153619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★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2011680" y="2642616"/>
            <a:ext cx="155448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011680" y="2642616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0.89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566160" y="2642616"/>
            <a:ext cx="155448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566160" y="2642616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0.91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5120640" y="2642616"/>
            <a:ext cx="155448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120640" y="2642616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0.93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6675120" y="2642616"/>
            <a:ext cx="155448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675120" y="2642616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0.90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365760" y="3081528"/>
            <a:ext cx="1645920" cy="420624"/>
          </a:xfrm>
          <a:prstGeom prst="rect">
            <a:avLst/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365760" y="3172968"/>
            <a:ext cx="64008" cy="237744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75488" y="3081528"/>
            <a:ext cx="153619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 Avg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2011680" y="3081528"/>
            <a:ext cx="1554480" cy="420624"/>
          </a:xfrm>
          <a:prstGeom prst="rect">
            <a:avLst/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2011680" y="3081528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0.81</a:t>
            </a:r>
            <a:endParaRPr lang="en-US" sz="1200" dirty="0"/>
          </a:p>
        </p:txBody>
      </p:sp>
      <p:sp>
        <p:nvSpPr>
          <p:cNvPr id="64" name="Shape 62"/>
          <p:cNvSpPr/>
          <p:nvPr/>
        </p:nvSpPr>
        <p:spPr>
          <a:xfrm>
            <a:off x="3566160" y="3081528"/>
            <a:ext cx="1554480" cy="420624"/>
          </a:xfrm>
          <a:prstGeom prst="rect">
            <a:avLst/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3566160" y="3081528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0.81</a:t>
            </a:r>
            <a:endParaRPr lang="en-US" sz="1200" dirty="0"/>
          </a:p>
        </p:txBody>
      </p:sp>
      <p:sp>
        <p:nvSpPr>
          <p:cNvPr id="66" name="Shape 64"/>
          <p:cNvSpPr/>
          <p:nvPr/>
        </p:nvSpPr>
        <p:spPr>
          <a:xfrm>
            <a:off x="5120640" y="3081528"/>
            <a:ext cx="1554480" cy="420624"/>
          </a:xfrm>
          <a:prstGeom prst="rect">
            <a:avLst/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5120640" y="3081528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0.93</a:t>
            </a:r>
            <a:endParaRPr lang="en-US" sz="1200" dirty="0"/>
          </a:p>
        </p:txBody>
      </p:sp>
      <p:sp>
        <p:nvSpPr>
          <p:cNvPr id="68" name="Shape 66"/>
          <p:cNvSpPr/>
          <p:nvPr/>
        </p:nvSpPr>
        <p:spPr>
          <a:xfrm>
            <a:off x="6675120" y="3081528"/>
            <a:ext cx="1554480" cy="420624"/>
          </a:xfrm>
          <a:prstGeom prst="rect">
            <a:avLst/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675120" y="3081528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0.81</a:t>
            </a:r>
            <a:endParaRPr lang="en-US" sz="1200" dirty="0"/>
          </a:p>
        </p:txBody>
      </p:sp>
      <p:sp>
        <p:nvSpPr>
          <p:cNvPr id="70" name="Shape 68"/>
          <p:cNvSpPr/>
          <p:nvPr/>
        </p:nvSpPr>
        <p:spPr>
          <a:xfrm>
            <a:off x="365760" y="3611880"/>
            <a:ext cx="196596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1" name="Shape 69"/>
          <p:cNvSpPr/>
          <p:nvPr/>
        </p:nvSpPr>
        <p:spPr>
          <a:xfrm>
            <a:off x="365760" y="3611880"/>
            <a:ext cx="1965960" cy="73152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365760" y="3703320"/>
            <a:ext cx="1965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93%</a:t>
            </a:r>
            <a:endParaRPr lang="en-US" sz="2400" dirty="0"/>
          </a:p>
        </p:txBody>
      </p:sp>
      <p:sp>
        <p:nvSpPr>
          <p:cNvPr id="73" name="Text 71"/>
          <p:cNvSpPr/>
          <p:nvPr/>
        </p:nvSpPr>
        <p:spPr>
          <a:xfrm>
            <a:off x="365760" y="443484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Specificity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Class</a:t>
            </a:r>
            <a:endParaRPr lang="en-US" sz="950" dirty="0"/>
          </a:p>
        </p:txBody>
      </p:sp>
      <p:sp>
        <p:nvSpPr>
          <p:cNvPr id="74" name="Shape 72"/>
          <p:cNvSpPr/>
          <p:nvPr/>
        </p:nvSpPr>
        <p:spPr>
          <a:xfrm>
            <a:off x="2487168" y="3611880"/>
            <a:ext cx="196596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5" name="Shape 73"/>
          <p:cNvSpPr/>
          <p:nvPr/>
        </p:nvSpPr>
        <p:spPr>
          <a:xfrm>
            <a:off x="2487168" y="3611880"/>
            <a:ext cx="1965960" cy="7315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2487168" y="3703320"/>
            <a:ext cx="1965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0.80±0.02</a:t>
            </a:r>
            <a:endParaRPr lang="en-US" sz="2400" dirty="0"/>
          </a:p>
        </p:txBody>
      </p:sp>
      <p:sp>
        <p:nvSpPr>
          <p:cNvPr id="77" name="Text 75"/>
          <p:cNvSpPr/>
          <p:nvPr/>
        </p:nvSpPr>
        <p:spPr>
          <a:xfrm>
            <a:off x="2487168" y="443484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 F1-Macro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(5-fold)</a:t>
            </a:r>
            <a:endParaRPr lang="en-US" sz="950" dirty="0"/>
          </a:p>
        </p:txBody>
      </p:sp>
      <p:sp>
        <p:nvSpPr>
          <p:cNvPr id="78" name="Shape 76"/>
          <p:cNvSpPr/>
          <p:nvPr/>
        </p:nvSpPr>
        <p:spPr>
          <a:xfrm>
            <a:off x="4608576" y="3611880"/>
            <a:ext cx="196596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9" name="Shape 77"/>
          <p:cNvSpPr/>
          <p:nvPr/>
        </p:nvSpPr>
        <p:spPr>
          <a:xfrm>
            <a:off x="4608576" y="3611880"/>
            <a:ext cx="1965960" cy="73152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4608576" y="3703320"/>
            <a:ext cx="1965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30s</a:t>
            </a:r>
            <a:endParaRPr lang="en-US" sz="2400" dirty="0"/>
          </a:p>
        </p:txBody>
      </p:sp>
      <p:sp>
        <p:nvSpPr>
          <p:cNvPr id="81" name="Text 79"/>
          <p:cNvSpPr/>
          <p:nvPr/>
        </p:nvSpPr>
        <p:spPr>
          <a:xfrm>
            <a:off x="4608576" y="443484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Time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(CPU only)</a:t>
            </a:r>
            <a:endParaRPr lang="en-US" sz="950" dirty="0"/>
          </a:p>
        </p:txBody>
      </p:sp>
      <p:sp>
        <p:nvSpPr>
          <p:cNvPr id="82" name="Shape 80"/>
          <p:cNvSpPr/>
          <p:nvPr/>
        </p:nvSpPr>
        <p:spPr>
          <a:xfrm>
            <a:off x="6729984" y="3611880"/>
            <a:ext cx="196596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3" name="Shape 81"/>
          <p:cNvSpPr/>
          <p:nvPr/>
        </p:nvSpPr>
        <p:spPr>
          <a:xfrm>
            <a:off x="6729984" y="3611880"/>
            <a:ext cx="1965960" cy="7315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729984" y="3703320"/>
            <a:ext cx="1965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8,000</a:t>
            </a:r>
            <a:endParaRPr lang="en-US" sz="2400" dirty="0"/>
          </a:p>
        </p:txBody>
      </p:sp>
      <p:sp>
        <p:nvSpPr>
          <p:cNvPr id="85" name="Text 83"/>
          <p:cNvSpPr/>
          <p:nvPr/>
        </p:nvSpPr>
        <p:spPr>
          <a:xfrm>
            <a:off x="6729984" y="443484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Metrics — Visual Comparison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65760" y="713232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Per-class Precision, Recall and F1-Score across all four categories</a:t>
            </a:r>
            <a:endParaRPr lang="en-US" sz="11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365760" y="1005840"/>
          <a:ext cx="512064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6" name="Chart 1"/>
          <p:cNvGraphicFramePr/>
          <p:nvPr/>
        </p:nvGraphicFramePr>
        <p:xfrm>
          <a:off x="5577840" y="1005840"/>
          <a:ext cx="320040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7" name="Shape 3"/>
          <p:cNvSpPr/>
          <p:nvPr/>
        </p:nvSpPr>
        <p:spPr>
          <a:xfrm>
            <a:off x="365760" y="4343400"/>
            <a:ext cx="8412480" cy="658368"/>
          </a:xfrm>
          <a:prstGeom prst="rect">
            <a:avLst/>
          </a:prstGeom>
          <a:solidFill>
            <a:srgbClr val="ECFDF5"/>
          </a:solidFill>
          <a:ln w="19050">
            <a:solidFill>
              <a:srgbClr val="22C55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Shape 4"/>
          <p:cNvSpPr/>
          <p:nvPr/>
        </p:nvSpPr>
        <p:spPr>
          <a:xfrm>
            <a:off x="365760" y="4343400"/>
            <a:ext cx="73152" cy="658368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548640" y="4361688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548640" y="4553712"/>
            <a:ext cx="80467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achieves its primary design target: 93% Specificity on the Normal class (TNR ≥ 0.90). Only 7% of genuinely healthy posts are incorrectly flagged as at-risk — a clinically meaningful result that minimises false alarms while maintaining ≥75% Recall on all mental health categories.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389120"/>
            <a:ext cx="9144000" cy="4572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434840"/>
            <a:ext cx="9144000" cy="708660"/>
          </a:xfrm>
          <a:prstGeom prst="rect">
            <a:avLst/>
          </a:prstGeom>
          <a:solidFill>
            <a:srgbClr val="085D61"/>
          </a:solidFill>
          <a:ln w="12700">
            <a:solidFill>
              <a:srgbClr val="085D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371600"/>
            <a:ext cx="80467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Screenshots of the</a:t>
            </a:r>
            <a:endParaRPr lang="en-US" sz="4000" dirty="0"/>
          </a:p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Deployed Application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48640" y="2834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14CF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0" y="4434840"/>
            <a:ext cx="9144000" cy="7086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Mental Health Status Classification from Social Media Posts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Deployed Web Application — Project Overview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65760" y="713232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academic website with full methodology and live demo</a:t>
            </a:r>
            <a:endParaRPr lang="en-US" sz="11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65760" y="1005840"/>
            <a:ext cx="8412480" cy="37490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65760" y="4773168"/>
            <a:ext cx="8412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2: Project Overview page — showing the 4 classification categories (Depression, Anxiety, PTSD, Normal) with colour-coded cards and the core problem statement.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Deployed Application — Results &amp; Evaluation Metrics Page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65760" y="713232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report and key performance indicators displayed on the website</a:t>
            </a:r>
            <a:endParaRPr lang="en-US" sz="11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65760" y="1005840"/>
            <a:ext cx="8412480" cy="37490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65760" y="4773168"/>
            <a:ext cx="8412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3: Results &amp; Metrics page showing the full classification report with per-class Precision, Recall, Specificity, F1-Score and supporting KPI cards.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Deployed Application — Live Interactive Demo (Example 1)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65760" y="713232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Lexical Approximation Engine — Normal classification result</a:t>
            </a:r>
            <a:endParaRPr lang="en-US" sz="11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65760" y="1005840"/>
            <a:ext cx="8412480" cy="37490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65760" y="4754880"/>
            <a:ext cx="8412480" cy="246888"/>
          </a:xfrm>
          <a:prstGeom prst="rect">
            <a:avLst/>
          </a:prstGeom>
          <a:solidFill>
            <a:srgbClr val="ECFDF5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02920" y="4754880"/>
            <a:ext cx="82296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NORMAL — 100% Confidence  |  Post: "Had such a fun day hiking with friends today! Feeling recharged and grateful for good company."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Deployed Application — Live Interactive Demo (Example 2)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65760" y="713232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Lexical Approximation Engine — PTSD classification result</a:t>
            </a:r>
            <a:endParaRPr lang="en-US" sz="11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65760" y="1005840"/>
            <a:ext cx="8412480" cy="37490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65760" y="4754880"/>
            <a:ext cx="8412480" cy="246888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02920" y="4754880"/>
            <a:ext cx="82296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PTSD — 100% Confidence  |  Post: "Every loud sound makes me jump. I can't sleep without nightmares. I feel so disconnected from everyone."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Deployed Application — Ethics &amp; Limitations Page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65760" y="713232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Responsible AI considerations displayed on the deployed website</a:t>
            </a:r>
            <a:endParaRPr lang="en-US" sz="11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65760" y="1005840"/>
            <a:ext cx="8412480" cy="37490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65760" y="4773168"/>
            <a:ext cx="8412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5: Ethics &amp; Limitations page — covering Data Privacy, Bias &amp; Fairness, Intended Use, False Negative Risk, and Ongoing Validation.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389120"/>
            <a:ext cx="9144000" cy="4572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434840"/>
            <a:ext cx="9144000" cy="708660"/>
          </a:xfrm>
          <a:prstGeom prst="rect">
            <a:avLst/>
          </a:prstGeom>
          <a:solidFill>
            <a:srgbClr val="085D61"/>
          </a:solidFill>
          <a:ln w="12700">
            <a:solidFill>
              <a:srgbClr val="085D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371600"/>
            <a:ext cx="80467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Conclusions, Limitations</a:t>
            </a:r>
            <a:endParaRPr lang="en-US" sz="4000" dirty="0"/>
          </a:p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Future Work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48640" y="2834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14CF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0" y="4434840"/>
            <a:ext cx="9144000" cy="7086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Mental Health Status Classification from Social Media Posts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Ethics &amp; Limitations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65760" y="713232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Responsible AI requires transparent acknowledgement of risks and appropriate use boundaries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05840"/>
            <a:ext cx="269748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005840"/>
            <a:ext cx="2697480" cy="292608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38912" y="1005840"/>
            <a:ext cx="255117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Privacy &amp;</a:t>
            </a:r>
            <a:endParaRPr lang="en-US" sz="1000" dirty="0"/>
          </a:p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Anonymisation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335024"/>
            <a:ext cx="2514600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posts are fully anonymised. No names, usernames or location data retained. Compliant with platform ToS and research ethics guidelines.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200400" y="1005840"/>
            <a:ext cx="269748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0" y="1005840"/>
            <a:ext cx="2697480" cy="292608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73552" y="1005840"/>
            <a:ext cx="255117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Diagnostic Tool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291840" y="1335024"/>
            <a:ext cx="2514600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system classifies text patterns, not individuals. Predictions must NEVER be used to make clinical, legal or insurance decisions.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035040" y="1005840"/>
            <a:ext cx="269748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035040" y="1005840"/>
            <a:ext cx="2697480" cy="29260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08192" y="1005840"/>
            <a:ext cx="255117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 &amp; Fairness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126480" y="1335024"/>
            <a:ext cx="2514600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data is skewed toward English-speaking Western populations. May underperform on non-standard dialects or code-switching.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65760" y="2834640"/>
            <a:ext cx="269748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65760" y="2834640"/>
            <a:ext cx="2697480" cy="29260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8912" y="2834640"/>
            <a:ext cx="255117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Intended Use Scope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200" y="3163824"/>
            <a:ext cx="2514600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Appropriate: research trend analysis, content moderation support, early-warning population signals. Prohibited: individual profiling, surveillance.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200400" y="2834640"/>
            <a:ext cx="269748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200400" y="2834640"/>
            <a:ext cx="2697480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273552" y="2834640"/>
            <a:ext cx="255117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Negative Risk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291840" y="3163824"/>
            <a:ext cx="2514600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75–80% recall, ~20–25% of at-risk posts may be missed. This is a support tool, not a safety net. Human review remains essential.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035040" y="2834640"/>
            <a:ext cx="269748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035040" y="2834640"/>
            <a:ext cx="2697480" cy="292608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108192" y="2834640"/>
            <a:ext cx="255117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Validation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126480" y="3163824"/>
            <a:ext cx="2514600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performance degrades as language evolves. Regular retraining and re-evaluation on fresh data is required before any deployment.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 &amp; Future Work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65760" y="713232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of findings and directions for subsequent research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987552"/>
            <a:ext cx="73152" cy="374904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9875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" y="1298448"/>
            <a:ext cx="38404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389888"/>
            <a:ext cx="201168" cy="201168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389888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" y="1316736"/>
            <a:ext cx="34747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Successfully built a 4-class mental health text classifier using TF-IDF + LinearSVC achieving Macro F1 = 0.81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02920" y="1837944"/>
            <a:ext cx="3840480" cy="5029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1929384"/>
            <a:ext cx="201168" cy="201168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1929384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822960" y="1856232"/>
            <a:ext cx="34747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design target MET: 93% Specificity on Normal class — minimising false positive flags on healthy individuals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02920" y="2377440"/>
            <a:ext cx="38404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2468880"/>
            <a:ext cx="201168" cy="201168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2468880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" y="2395728"/>
            <a:ext cx="34747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Confidence-Threshold Normal Guard is an effective post-processing fix for the over-prediction problem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02920" y="2916936"/>
            <a:ext cx="3840480" cy="5029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008376"/>
            <a:ext cx="201168" cy="201168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3008376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822960" y="2935224"/>
            <a:ext cx="34747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completes in &lt; 30 seconds on CPU — making the system fully accessible without GPU infrastructure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02920" y="3456432"/>
            <a:ext cx="38404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3547872"/>
            <a:ext cx="201168" cy="201168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" y="3547872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822960" y="3474720"/>
            <a:ext cx="34747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weights provide interpretable, human-readable explanations of classification decisions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3995928"/>
            <a:ext cx="3840480" cy="5029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" y="4087368"/>
            <a:ext cx="201168" cy="201168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8640" y="4087368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22960" y="4014216"/>
            <a:ext cx="34747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Deployed as an interactive web application with live demo and full academic documentation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663440" y="1005840"/>
            <a:ext cx="0" cy="374904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705088" y="987552"/>
            <a:ext cx="73152" cy="374904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00600" y="9875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800600" y="1298448"/>
            <a:ext cx="38404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800600" y="1298448"/>
            <a:ext cx="54864" cy="50292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919472" y="1316736"/>
            <a:ext cx="3639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 Fine-tuning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4919472" y="1536192"/>
            <a:ext cx="36393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Fine-tune BERT / Mental-RoBERTa for 5–8% accuracy gain with contextual understanding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4800600" y="1837944"/>
            <a:ext cx="3840480" cy="502920"/>
          </a:xfrm>
          <a:prstGeom prst="rect">
            <a:avLst/>
          </a:prstGeom>
          <a:solidFill>
            <a:srgbClr val="FFFBE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800600" y="1837944"/>
            <a:ext cx="54864" cy="50292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919472" y="1856232"/>
            <a:ext cx="3639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Support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4919472" y="2075688"/>
            <a:ext cx="36393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to non-English datasets to address Western demographic bias in training data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4800600" y="2377440"/>
            <a:ext cx="38404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800600" y="2377440"/>
            <a:ext cx="54864" cy="50292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919472" y="2395728"/>
            <a:ext cx="3639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Retraining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4919472" y="2615184"/>
            <a:ext cx="36393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retraining pipeline with concept-drift detection as language evolves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4800600" y="2916936"/>
            <a:ext cx="3840480" cy="502920"/>
          </a:xfrm>
          <a:prstGeom prst="rect">
            <a:avLst/>
          </a:prstGeom>
          <a:solidFill>
            <a:srgbClr val="FFFBE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800600" y="2916936"/>
            <a:ext cx="54864" cy="50292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919472" y="2935224"/>
            <a:ext cx="3639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Validation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4919472" y="3154680"/>
            <a:ext cx="36393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Collaborate with mental health professionals to validate on clinically labelled datasets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4800600" y="3456432"/>
            <a:ext cx="38404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800600" y="3456432"/>
            <a:ext cx="54864" cy="50292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919472" y="3474720"/>
            <a:ext cx="3639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Explainability Layer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4919472" y="3694176"/>
            <a:ext cx="36393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SHAP/LIME integration to provide token-level explanations alongside predictions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4800600" y="3995928"/>
            <a:ext cx="3840480" cy="502920"/>
          </a:xfrm>
          <a:prstGeom prst="rect">
            <a:avLst/>
          </a:prstGeom>
          <a:solidFill>
            <a:srgbClr val="FFFBE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4800600" y="3995928"/>
            <a:ext cx="54864" cy="50292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919472" y="4014216"/>
            <a:ext cx="3639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API</a:t>
            </a:r>
            <a:endParaRPr lang="en-US" sz="950" dirty="0"/>
          </a:p>
        </p:txBody>
      </p:sp>
      <p:sp>
        <p:nvSpPr>
          <p:cNvPr id="57" name="Text 55"/>
          <p:cNvSpPr/>
          <p:nvPr/>
        </p:nvSpPr>
        <p:spPr>
          <a:xfrm>
            <a:off x="4919472" y="4233672"/>
            <a:ext cx="36393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as a REST API for integration with social platform moderation pipelines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References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65760" y="713232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sources underpinning the methodology and ethical framework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024128"/>
            <a:ext cx="347472" cy="50292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024128"/>
            <a:ext cx="3474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4CF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04672" y="1060704"/>
            <a:ext cx="786384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Coppersmith, G., Dredze, M., &amp; Harman, C. (2014). Quantifying mental health signals in Twitter. ACL Workshop on Computational Linguistics and Clinical Psychology.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65760" y="1591056"/>
            <a:ext cx="8412480" cy="5029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1591056"/>
            <a:ext cx="347472" cy="50292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1591056"/>
            <a:ext cx="3474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4CF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04672" y="1627632"/>
            <a:ext cx="786384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Gkotsis, G., et al. (2017). Characterisation of mental health conditions in social media using informed deep learning. Scientific Reports, 7(1), 45141.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65760" y="2157984"/>
            <a:ext cx="84124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157984"/>
            <a:ext cx="347472" cy="50292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157984"/>
            <a:ext cx="3474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4CF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04672" y="2194560"/>
            <a:ext cx="786384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Losada, D. E., &amp; Crestani, F. (2016). A test collection for research on depression and language use. CLEF Conference on Information Retrieval.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65760" y="2724912"/>
            <a:ext cx="8412480" cy="5029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2724912"/>
            <a:ext cx="347472" cy="50292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724912"/>
            <a:ext cx="3474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4CF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04672" y="2761488"/>
            <a:ext cx="786384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Vapnik, V. N. (1995). The Nature of Statistical Learning Theory. Springer, New York.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65760" y="3291840"/>
            <a:ext cx="84124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" y="3291840"/>
            <a:ext cx="347472" cy="50292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91840"/>
            <a:ext cx="3474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4CF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04672" y="3328416"/>
            <a:ext cx="786384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Pedregosa, F., et al. (2011). Scikit-learn: Machine Learning in Python. Journal of Machine Learning Research, 12, 2825–2830.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65760" y="3858768"/>
            <a:ext cx="8412480" cy="5029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65760" y="3858768"/>
            <a:ext cx="347472" cy="50292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858768"/>
            <a:ext cx="3474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4CF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04672" y="3895344"/>
            <a:ext cx="786384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Bird, S., Klein, E., &amp; Loper, E. (2009). Natural Language Processing with Python. O'Reilly Media.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65760" y="4425696"/>
            <a:ext cx="84124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4425696"/>
            <a:ext cx="347472" cy="50292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425696"/>
            <a:ext cx="3474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4CF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04672" y="4462272"/>
            <a:ext cx="786384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Kaggle Dataset. Sentiment Analysis for Mental Health. Publicly available research dataset — anonymised Reddit/Twitter posts.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45720"/>
          </a:xfrm>
          <a:prstGeom prst="rect">
            <a:avLst/>
          </a:prstGeom>
          <a:solidFill>
            <a:srgbClr val="14CFBD"/>
          </a:solidFill>
          <a:ln w="12700">
            <a:solidFill>
              <a:srgbClr val="14CFB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3977640"/>
            <a:ext cx="9144000" cy="1165860"/>
          </a:xfrm>
          <a:prstGeom prst="rect">
            <a:avLst/>
          </a:prstGeom>
          <a:solidFill>
            <a:srgbClr val="085D61"/>
          </a:solidFill>
          <a:ln w="12700">
            <a:solidFill>
              <a:srgbClr val="085D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371600"/>
            <a:ext cx="8229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457200" y="2560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14CF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Mental Health Status Classification from Social Media Posts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31089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+ SVM  ·  scikit-learn  ·  NLTK  ·  Python 3.11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Research Project  </a:t>
            </a:r>
          </a:p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0" y="3977640"/>
            <a:ext cx="9144000" cy="11658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Research and Educational Purposes Only  ·  Not Intended for Clinical Diagnosis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64</TotalTime>
  <Words>1968</Words>
  <Application>Microsoft Office PowerPoint</Application>
  <PresentationFormat>On-screen Show (16:9)</PresentationFormat>
  <Paragraphs>319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7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Mental Health Status Classification from Social Media Posts</dc:title>
  <dc:subject>PptxGenJS Presentation</dc:subject>
  <dc:creator>Academic Research</dc:creator>
  <cp:lastModifiedBy>Harikrishnan Sm</cp:lastModifiedBy>
  <cp:revision>3</cp:revision>
  <dcterms:created xsi:type="dcterms:W3CDTF">2026-04-06T07:09:32Z</dcterms:created>
  <dcterms:modified xsi:type="dcterms:W3CDTF">2026-04-21T05:07:45Z</dcterms:modified>
</cp:coreProperties>
</file>